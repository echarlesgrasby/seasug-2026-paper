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60"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9144000" cy="5715000" type="screen16x10"/>
  <p:notesSz cx="6858000" cy="9144000"/>
  <p:embeddedFontLst>
    <p:embeddedFont>
      <p:font typeface="Antonio" panose="020B0604020202020204" charset="0"/>
      <p:regular r:id="rId35"/>
      <p:bold r:id="rId36"/>
    </p:embeddedFont>
    <p:embeddedFont>
      <p:font typeface="Antonio Medium" panose="020B0604020202020204" charset="0"/>
      <p:regular r:id="rId37"/>
      <p:bold r:id="rId38"/>
    </p:embeddedFont>
    <p:embeddedFont>
      <p:font typeface="Source Sans Pro" panose="020B0503030403020204" pitchFamily="34" charset="0"/>
      <p:regular r:id="rId39"/>
      <p:bold r:id="rId40"/>
      <p: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9545" autoAdjust="0"/>
  </p:normalViewPr>
  <p:slideViewPr>
    <p:cSldViewPr snapToGrid="0">
      <p:cViewPr varScale="1">
        <p:scale>
          <a:sx n="160" d="100"/>
          <a:sy n="160" d="100"/>
        </p:scale>
        <p:origin x="1104" y="354"/>
      </p:cViewPr>
      <p:guideLst>
        <p:guide orient="horz" pos="180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20" Type="http://schemas.openxmlformats.org/officeDocument/2006/relationships/slide" Target="slides/slide19.xml"/><Relationship Id="rId41" Type="http://schemas.openxmlformats.org/officeDocument/2006/relationships/font" Target="fonts/font7.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p: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little about me: </a:t>
            </a:r>
            <a:endParaRPr/>
          </a:p>
          <a:p>
            <a:pPr marL="0" lvl="0" indent="0" algn="l" rtl="0">
              <a:spcBef>
                <a:spcPts val="0"/>
              </a:spcBef>
              <a:spcAft>
                <a:spcPts val="0"/>
              </a:spcAft>
              <a:buNone/>
            </a:pPr>
            <a:endParaRPr/>
          </a:p>
          <a:p>
            <a:pPr marL="457200" lvl="0" indent="-298450" algn="l" rtl="0">
              <a:spcBef>
                <a:spcPts val="0"/>
              </a:spcBef>
              <a:spcAft>
                <a:spcPts val="0"/>
              </a:spcAft>
              <a:buSzPts val="1100"/>
              <a:buChar char="●"/>
            </a:pPr>
            <a:r>
              <a:rPr lang="en"/>
              <a:t>Eric Grasby</a:t>
            </a:r>
            <a:endParaRPr/>
          </a:p>
          <a:p>
            <a:pPr marL="457200" lvl="0" indent="-298450" algn="l" rtl="0">
              <a:spcBef>
                <a:spcPts val="0"/>
              </a:spcBef>
              <a:spcAft>
                <a:spcPts val="0"/>
              </a:spcAft>
              <a:buSzPts val="1100"/>
              <a:buChar char="●"/>
            </a:pPr>
            <a:r>
              <a:rPr lang="en"/>
              <a:t>I’m a doctoral candidate, UA Little Rock, where I have been a student in the School of Computer and Information Science since 2014 (undergrad)</a:t>
            </a:r>
            <a:endParaRPr/>
          </a:p>
          <a:p>
            <a:pPr marL="457200" lvl="0" indent="-298450" algn="l" rtl="0">
              <a:spcBef>
                <a:spcPts val="0"/>
              </a:spcBef>
              <a:spcAft>
                <a:spcPts val="0"/>
              </a:spcAft>
              <a:buSzPts val="1100"/>
              <a:buChar char="●"/>
            </a:pPr>
            <a:r>
              <a:rPr lang="en"/>
              <a:t>Currently working on a dissertation that investigates using domain-specific language design in energy markets (specifically in monitoring energy markets – related work)</a:t>
            </a:r>
            <a:endParaRPr/>
          </a:p>
          <a:p>
            <a:pPr marL="457200" lvl="0" indent="-298450" algn="l" rtl="0">
              <a:spcBef>
                <a:spcPts val="0"/>
              </a:spcBef>
              <a:spcAft>
                <a:spcPts val="0"/>
              </a:spcAft>
              <a:buSzPts val="1100"/>
              <a:buChar char="●"/>
            </a:pPr>
            <a:r>
              <a:rPr lang="en"/>
              <a:t>I do work full-time at SPP, a not-for-profit organization that manages “traffic’ on the bulk electric system for the central corridor of the United States</a:t>
            </a:r>
            <a:endParaRPr/>
          </a:p>
          <a:p>
            <a:pPr marL="0" lvl="0" indent="0" algn="l" rtl="0">
              <a:spcBef>
                <a:spcPts val="0"/>
              </a:spcBef>
              <a:spcAft>
                <a:spcPts val="0"/>
              </a:spcAft>
              <a:buNone/>
            </a:pPr>
            <a:endParaRPr/>
          </a:p>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h1baa34327e0ebe05_0_45: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 name="Google Shape;71;h1baa34327e0ebe05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Really quickly, before we dive in, I would like to give a “shout out” and thank you to my co-authors on this paper (as well as my dissertation committee). </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Dr. Maria Gingras and Dr. Daniel Berleant were instrumental in advising the scope of this paper and in reviewing the content prior to submission. I’m thankful to both of them, and their online profiles can be found via the QR codes that you see here.</a:t>
            </a:r>
            <a:endParaRPr>
              <a:solidFill>
                <a:schemeClr val="dk1"/>
              </a:solidFill>
            </a:endParaRPr>
          </a:p>
          <a:p>
            <a:pPr marL="0" lvl="0" indent="0" algn="l" rtl="0">
              <a:spcBef>
                <a:spcPts val="0"/>
              </a:spcBef>
              <a:spcAft>
                <a:spcPts val="0"/>
              </a:spcAft>
              <a:buClr>
                <a:schemeClr val="dk1"/>
              </a:buClr>
              <a:buSzPts val="1100"/>
              <a:buFont typeface="Arial"/>
              <a:buNone/>
            </a:pPr>
            <a:endParaRPr>
              <a:solidFill>
                <a:schemeClr val="dk1"/>
              </a:solidFill>
            </a:endParaRPr>
          </a:p>
          <a:p>
            <a:pPr marL="0" lvl="0" indent="0" algn="l" rtl="0">
              <a:spcBef>
                <a:spcPts val="0"/>
              </a:spcBef>
              <a:spcAft>
                <a:spcPts val="0"/>
              </a:spcAft>
              <a:buClr>
                <a:schemeClr val="dk1"/>
              </a:buClr>
              <a:buSzPts val="1100"/>
              <a:buFont typeface="Arial"/>
              <a:buNone/>
            </a:pPr>
            <a:r>
              <a:rPr lang="en">
                <a:solidFill>
                  <a:schemeClr val="dk1"/>
                </a:solidFill>
              </a:rPr>
              <a:t>This slide is available at the end of this presentation. This slide deck is also available on the Whova conference system (attached to this session). </a:t>
            </a:r>
            <a:endParaRPr>
              <a:solidFill>
                <a:schemeClr val="dk1"/>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gf6009934c2_0_2: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 name="Google Shape;85;gf6009934c2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Since this is a multiple cross-disciplinary subject, </a:t>
            </a:r>
            <a:r>
              <a:rPr lang="en"/>
              <a:t>I do want to clarify a few things before we get into the focus of this paper. The title is a pretty good place for us to start.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3fb90695b30_0_116: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3fb90695b30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There is a lot that is “compressed” into the title of this paper. I think that there are three (3) areas that are worth calling out and taking a moment to speak about: </a:t>
            </a:r>
            <a:endParaRPr dirty="0"/>
          </a:p>
          <a:p>
            <a:pPr marL="0" lvl="0" indent="0" algn="l" rtl="0">
              <a:spcBef>
                <a:spcPts val="0"/>
              </a:spcBef>
              <a:spcAft>
                <a:spcPts val="0"/>
              </a:spcAft>
              <a:buNone/>
            </a:pPr>
            <a:endParaRPr dirty="0"/>
          </a:p>
          <a:p>
            <a:pPr marL="457200" lvl="0" indent="-298450" algn="l" rtl="0">
              <a:spcBef>
                <a:spcPts val="0"/>
              </a:spcBef>
              <a:spcAft>
                <a:spcPts val="0"/>
              </a:spcAft>
              <a:buSzPts val="1100"/>
              <a:buChar char="●"/>
            </a:pPr>
            <a:r>
              <a:rPr lang="en" dirty="0"/>
              <a:t>DSLs</a:t>
            </a:r>
            <a:endParaRPr dirty="0"/>
          </a:p>
          <a:p>
            <a:pPr marL="457200" lvl="0" indent="-298450" algn="l" rtl="0">
              <a:spcBef>
                <a:spcPts val="0"/>
              </a:spcBef>
              <a:spcAft>
                <a:spcPts val="0"/>
              </a:spcAft>
              <a:buSzPts val="1100"/>
              <a:buChar char="●"/>
            </a:pPr>
            <a:r>
              <a:rPr lang="en" dirty="0"/>
              <a:t>Market Monitoring (what is that?) </a:t>
            </a:r>
            <a:endParaRPr dirty="0"/>
          </a:p>
          <a:p>
            <a:pPr marL="457200" lvl="0" indent="-298450" algn="l" rtl="0">
              <a:spcBef>
                <a:spcPts val="0"/>
              </a:spcBef>
              <a:spcAft>
                <a:spcPts val="0"/>
              </a:spcAft>
              <a:buSzPts val="1100"/>
              <a:buChar char="●"/>
            </a:pPr>
            <a:r>
              <a:rPr lang="en" dirty="0"/>
              <a:t>How SAS fits into all of this (after all, that’s why we submitted this paper to </a:t>
            </a:r>
            <a:r>
              <a:rPr lang="en" i="1" dirty="0"/>
              <a:t>this </a:t>
            </a:r>
            <a:r>
              <a:rPr lang="en" dirty="0"/>
              <a:t>conference)</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 dirty="0"/>
              <a:t>I know that these 3 things might seem wholly unrelated, but let’s delve into each of these a little bit and the connection will hopefully become more clear.</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409e0f61e74_1_0: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409e0f61e74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Plainly put, a GPL is intended to be general – a language that can be used to develop any kind of software. A DSL is specific, one that is designed to accomplish a set number of tasks within a particular problem domain.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h3b514fc27502e27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 name="Google Shape;129;h3b514fc27502e2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So what is market monitoring? A discipline that blends forensics and economics to help ensure that these markets are not gamed nor manipulated by unscrupulous participants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h1baa34327e0ebe05_0_0: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h1baa34327e0ebe0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There is a </a:t>
            </a:r>
            <a:r>
              <a:rPr lang="en" i="1"/>
              <a:t>ton </a:t>
            </a:r>
            <a:r>
              <a:rPr lang="en"/>
              <a:t>of extant research on electricity markets and price formation. This is just intended to help folks understand a sliver of what an electricity market handles so that you understand how complex the data can be.</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8"/>
        <p:cNvGrpSpPr/>
        <p:nvPr/>
      </p:nvGrpSpPr>
      <p:grpSpPr>
        <a:xfrm>
          <a:off x="0" y="0"/>
          <a:ext cx="0" cy="0"/>
          <a:chOff x="0" y="0"/>
          <a:chExt cx="0" cy="0"/>
        </a:xfrm>
      </p:grpSpPr>
      <p:sp>
        <p:nvSpPr>
          <p:cNvPr id="159" name="Google Shape;159;h39fdec8ebc0d434d_4_0: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0" name="Google Shape;160;h39fdec8ebc0d434d_4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Here is a map that better visualizes marginal/nodal pricing, using the SPP Market Territory.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f6009934c2_0_55: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f6009934c2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Overview map of the FERC jurisdictional electric market territories. There are a few caveats here, the most glaring of which is the “black ink” covering ERCOT, the wholesale electric market for Texas. ERCOT is separate from FERC’s jurisdiction (you’ll recall the 2021 Winter Storm “Uri”). Additionally, the Northwest, Southwest, and Southeast territories are not necessarily governed by RTO/ISO organizations (for example, the Tennessee Valley Authority – TVA, coordinates traffic for part of Tennessee/Appalachia).</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h39fdec8ebc0d434d_4_27: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h39fdec8ebc0d434d_4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So now that you have the background of the problem domain, let’s talk about what I’m interested in doing about it!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
        <p:cNvGrpSpPr/>
        <p:nvPr/>
      </p:nvGrpSpPr>
      <p:grpSpPr>
        <a:xfrm>
          <a:off x="0" y="0"/>
          <a:ext cx="0" cy="0"/>
          <a:chOff x="0" y="0"/>
          <a:chExt cx="0" cy="0"/>
        </a:xfrm>
      </p:grpSpPr>
      <p:sp>
        <p:nvSpPr>
          <p:cNvPr id="182" name="Google Shape;182;g3fb90695b30_0_45: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3" name="Google Shape;183;g3fb90695b30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Why are you using SAS to manage the complexity?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h39fdec8ebc0d434d_4_15: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h39fdec8ebc0d434d_4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This is the heart of the presentation - Monitor Language (“MLang”) is an emerging DSL to bring the logic performed by market monitors closer to the analysts.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hda08c94ecae6c7b_11_44: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hda08c94ecae6c7b_11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 quick “checkpoint” summary of what all is being discussed here, because there is a lot going on in this presentation.</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409e0f61e74_1_34: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409e0f61e74_1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How was it designed? Let’s talk a little bit about the requirements modeling.</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g3fb90695b30_0_129: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2" name="Google Shape;212;g3fb90695b30_0_1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Discussion on how the requirements and design of the language came to be. We used a Delphi study that was composed of members of the EISG (a professional, international, conference of market monitors). Their response to the study is what shaped the system requirements. Also, it was a full-fledged research protocol because the UA Little Rock IRB designated this as “Human Participant Research”, so that added a layer of complexity.</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3fbfa8b60dc_0_0: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3fbfa8b60d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Let’s discuss a little bit about what Delphi studies are and how they relate to this project. You’ll see here at the bottom, I have highlighted 3 very useful questions that were used in the requirements development process.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hda08c94ecae6c7b_11_26: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hda08c94ecae6c7b_11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The Delphi results were partially processed (more than just this technique were used) via thematic coding, which is a processing technique that uses human (clerical) review to attach short descriptors to qualitative data. These are used to identify the meaning of a phrase or response. The codes are then grouped according to their frequency and collapsed into “high level” codes that actual requirements are built into.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hda08c94ecae6c7b_11_32: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hda08c94ecae6c7b_11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5 basic requirements that were determined from the processing phase of the Delphi study. While this PoC does not meet </a:t>
            </a:r>
            <a:r>
              <a:rPr lang="en" i="1"/>
              <a:t>every requirement, </a:t>
            </a:r>
            <a:r>
              <a:rPr lang="en"/>
              <a:t>it does provide a platform on which to build all of this functionality (plus more advanced use cases).</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409e0f61e74_1_3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409e0f61e74_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Proof of concept (PoC) implementation slides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h1baa34327e0ebe05_0_71: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h1baa34327e0ebe05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Quick coverage of the technology used in this proof of concept. This is shown in an “exploded” view later in this section.</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hda08c94ecae6c7b_11_20: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hda08c94ecae6c7b_1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On the left you’ll see the grammar.lark file that is bundled with the transpiler. Think of this like a set of really specific regex rules that can extract phrases from text with extra metadata. On the right, you’ll see a sample Monitor Language (“MLang”) program. The grammar rules are designed to parse this computer language, specifically. The transpiler takes the parsed code and associated metadata and uses those rules to generate valid SAS code.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hda08c94ecae6c7b_11_79: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5" name="Google Shape;295;hda08c94ecae6c7b_11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test data used in this proof of concept is sourced from the Energy Information Authority (EIA), specifically from the annually-updated EIA Form 860 data set.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h1baa34327e0ebe05_0_108:notes"/>
          <p:cNvSpPr>
            <a:spLocks noGrp="1" noRot="1" noChangeAspect="1"/>
          </p:cNvSpPr>
          <p:nvPr>
            <p:ph type="sldImg" idx="2"/>
          </p:nvPr>
        </p:nvSpPr>
        <p:spPr>
          <a:xfrm>
            <a:off x="685800"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h1baa34327e0ebe05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Transpiler architecture is built in Python and uses Lark to read the MLang grammar.lark file and scaffold an MLang parser. The MLang parser then parses the MLang source code (i.e. sample.mlang) and produces SAS output code</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hda08c94ecae6c7b_11_14: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 name="Google Shape;324;hda08c94ecae6c7b_11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Quick example of the “sample.sas” file that was built by the transpiler. You can see that it performed the PROC IMPORT from the import_dataset_basic.sas macro and generated 3 data sets in the WORK library.</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hda08c94ecae6c7b_11_1: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hda08c94ecae6c7b_1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Features include: basic data imports from CSV, data tagging using SAS extended attributes (XATTR), and data quality checks upon transpiler invocation</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g409e73b51a6_0_0: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 name="Google Shape;351;g409e73b51a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Alright, let’s start to wrap up with Conclusions and Future Work</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h1baa34327e0ebe05_0_85: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7" name="Google Shape;357;h1baa34327e0ebe05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The current limitations of MLang and the MLang transpiler</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h1baa34327e0ebe05_0_97: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 name="Google Shape;364;h1baa34327e0ebe05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Here is what I plan to add to the system next!</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h7babd22994dd59ec_0_1: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h7babd22994dd59ec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f6009934c2_0_9: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f6009934c2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If you wish to view the source code behind this paper, it can be found in the repository linked in this slide, under the “transpiler” directory.</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g409e0f61e74_1_5: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2" name="Google Shape;392;g409e0f61e74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Any questions? I hope so! If not, please feel free to contact the authors at our respective email addresses.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h1baa34327e0ebe05_0_58:notes"/>
          <p:cNvSpPr>
            <a:spLocks noGrp="1" noRot="1" noChangeAspect="1"/>
          </p:cNvSpPr>
          <p:nvPr>
            <p:ph type="sldImg" idx="2"/>
          </p:nvPr>
        </p:nvSpPr>
        <p:spPr>
          <a:xfrm>
            <a:off x="686104" y="685800"/>
            <a:ext cx="54864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h1baa34327e0ebe05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solidFill>
                  <a:schemeClr val="dk1"/>
                </a:solidFill>
              </a:rPr>
              <a:t>In case anyone wants to re-scan these QR codes</a:t>
            </a:r>
            <a:endParaRPr>
              <a:solidFill>
                <a:schemeClr val="dk1"/>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UA Little Rock 2021 – 16:10" type="title">
  <p:cSld name="TITLE">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2"/>
          <p:cNvSpPr txBox="1">
            <a:spLocks noGrp="1"/>
          </p:cNvSpPr>
          <p:nvPr>
            <p:ph type="ctrTitle"/>
          </p:nvPr>
        </p:nvSpPr>
        <p:spPr>
          <a:xfrm>
            <a:off x="457200" y="457200"/>
            <a:ext cx="4572000" cy="2286000"/>
          </a:xfrm>
          <a:prstGeom prst="rect">
            <a:avLst/>
          </a:prstGeom>
        </p:spPr>
        <p:txBody>
          <a:bodyPr spcFirstLastPara="1" wrap="square" lIns="0" tIns="0" rIns="0" bIns="0" anchor="b" anchorCtr="0">
            <a:noAutofit/>
          </a:bodyPr>
          <a:lstStyle>
            <a:lvl1pPr lvl="0">
              <a:spcBef>
                <a:spcPts val="0"/>
              </a:spcBef>
              <a:spcAft>
                <a:spcPts val="0"/>
              </a:spcAft>
              <a:buClr>
                <a:srgbClr val="FFFFFF"/>
              </a:buClr>
              <a:buSzPts val="5200"/>
              <a:buNone/>
              <a:defRPr sz="5200">
                <a:solidFill>
                  <a:srgbClr val="FFFFFF"/>
                </a:solidFill>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a:off x="457200" y="3200400"/>
            <a:ext cx="3657600" cy="20574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lt1"/>
              </a:buClr>
              <a:buSzPts val="2800"/>
              <a:buFont typeface="Antonio"/>
              <a:buNone/>
              <a:defRPr sz="2800">
                <a:solidFill>
                  <a:schemeClr val="lt1"/>
                </a:solidFill>
                <a:latin typeface="Antonio"/>
                <a:ea typeface="Antonio"/>
                <a:cs typeface="Antonio"/>
                <a:sym typeface="Antonio"/>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2"/>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blipFill>
          <a:blip r:embed="rId2">
            <a:alphaModFix/>
          </a:blip>
          <a:stretch>
            <a:fillRect/>
          </a:stretch>
        </a:blipFill>
        <a:effectLst/>
      </p:bgPr>
    </p:bg>
    <p:spTree>
      <p:nvGrpSpPr>
        <p:cNvPr id="1" name="Shape 17"/>
        <p:cNvGrpSpPr/>
        <p:nvPr/>
      </p:nvGrpSpPr>
      <p:grpSpPr>
        <a:xfrm>
          <a:off x="0" y="0"/>
          <a:ext cx="0" cy="0"/>
          <a:chOff x="0" y="0"/>
          <a:chExt cx="0" cy="0"/>
        </a:xfrm>
      </p:grpSpPr>
      <p:sp>
        <p:nvSpPr>
          <p:cNvPr id="18" name="Google Shape;18;p3"/>
          <p:cNvSpPr txBox="1">
            <a:spLocks noGrp="1"/>
          </p:cNvSpPr>
          <p:nvPr>
            <p:ph type="title"/>
          </p:nvPr>
        </p:nvSpPr>
        <p:spPr>
          <a:xfrm>
            <a:off x="457200" y="2400308"/>
            <a:ext cx="8229600" cy="914400"/>
          </a:xfrm>
          <a:prstGeom prst="rect">
            <a:avLst/>
          </a:prstGeom>
        </p:spPr>
        <p:txBody>
          <a:bodyPr spcFirstLastPara="1" wrap="square" lIns="0" tIns="0" rIns="0" bIns="0" anchor="ctr" anchorCtr="0">
            <a:noAutofit/>
          </a:bodyPr>
          <a:lstStyle>
            <a:lvl1pPr lvl="0" algn="ctr">
              <a:spcBef>
                <a:spcPts val="0"/>
              </a:spcBef>
              <a:spcAft>
                <a:spcPts val="0"/>
              </a:spcAft>
              <a:buClr>
                <a:schemeClr val="lt1"/>
              </a:buClr>
              <a:buSzPts val="3600"/>
              <a:buNone/>
              <a:defRPr sz="3600">
                <a:solidFill>
                  <a:schemeClr val="lt1"/>
                </a:solidFill>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9" name="Google Shape;19;p3"/>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457200" y="1371600"/>
            <a:ext cx="8229600" cy="3657600"/>
          </a:xfrm>
          <a:prstGeom prst="rect">
            <a:avLst/>
          </a:prstGeom>
        </p:spPr>
        <p:txBody>
          <a:bodyPr spcFirstLastPara="1" wrap="square" lIns="0" tIns="0" rIns="0" bIns="0" anchor="t" anchorCtr="0">
            <a:no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3" name="Google Shape;23;p4"/>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6" name="Google Shape;26;p5"/>
          <p:cNvSpPr txBox="1">
            <a:spLocks noGrp="1"/>
          </p:cNvSpPr>
          <p:nvPr>
            <p:ph type="body" idx="1"/>
          </p:nvPr>
        </p:nvSpPr>
        <p:spPr>
          <a:xfrm>
            <a:off x="457200" y="1371600"/>
            <a:ext cx="3886200" cy="36576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7" name="Google Shape;27;p5"/>
          <p:cNvSpPr txBox="1">
            <a:spLocks noGrp="1"/>
          </p:cNvSpPr>
          <p:nvPr>
            <p:ph type="body" idx="2"/>
          </p:nvPr>
        </p:nvSpPr>
        <p:spPr>
          <a:xfrm>
            <a:off x="4800600" y="1371600"/>
            <a:ext cx="3886200" cy="3657600"/>
          </a:xfrm>
          <a:prstGeom prst="rect">
            <a:avLst/>
          </a:prstGeom>
        </p:spPr>
        <p:txBody>
          <a:bodyPr spcFirstLastPara="1" wrap="square" lIns="0" tIns="0" rIns="0" bIns="0"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8" name="Google Shape;28;p5"/>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31" name="Google Shape;31;p6"/>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57200" y="685800"/>
            <a:ext cx="2743200" cy="457200"/>
          </a:xfrm>
          <a:prstGeom prst="rect">
            <a:avLst/>
          </a:prstGeom>
        </p:spPr>
        <p:txBody>
          <a:bodyPr spcFirstLastPara="1" wrap="square" lIns="0" tIns="0" rIns="0" bIns="0" anchor="b" anchorCtr="0">
            <a:noAutofit/>
          </a:bodyPr>
          <a:lstStyle>
            <a:lvl1pPr lvl="0">
              <a:spcBef>
                <a:spcPts val="0"/>
              </a:spcBef>
              <a:spcAft>
                <a:spcPts val="0"/>
              </a:spcAft>
              <a:buSzPts val="2400"/>
              <a:buNone/>
              <a:defRPr/>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457200" y="1371600"/>
            <a:ext cx="2743200" cy="3657600"/>
          </a:xfrm>
          <a:prstGeom prst="rect">
            <a:avLst/>
          </a:prstGeom>
        </p:spPr>
        <p:txBody>
          <a:bodyPr spcFirstLastPara="1" wrap="square" lIns="0" tIns="0" rIns="0" bIns="0" anchor="t" anchorCtr="0">
            <a:noAutofit/>
          </a:bodyPr>
          <a:lstStyle>
            <a:lvl1pPr marL="457200" lvl="0" indent="-304800">
              <a:spcBef>
                <a:spcPts val="0"/>
              </a:spcBef>
              <a:spcAft>
                <a:spcPts val="0"/>
              </a:spcAft>
              <a:buSzPts val="12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5" name="Google Shape;35;p7"/>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blipFill>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57200" y="685800"/>
            <a:ext cx="8229600" cy="4343400"/>
          </a:xfrm>
          <a:prstGeom prst="rect">
            <a:avLst/>
          </a:prstGeom>
        </p:spPr>
        <p:txBody>
          <a:bodyPr spcFirstLastPara="1" wrap="square" lIns="0" tIns="0" rIns="0" bIns="0" anchor="ctr" anchorCtr="0">
            <a:no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8" name="Google Shape;38;p8"/>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blipFill>
          <a:blip r:embed="rId2">
            <a:alphaModFix/>
          </a:blip>
          <a:stretch>
            <a:fillRect/>
          </a:stretch>
        </a:blipFill>
        <a:effectLst/>
      </p:bgPr>
    </p:bg>
    <p:spTree>
      <p:nvGrpSpPr>
        <p:cNvPr id="1" name="Shape 39"/>
        <p:cNvGrpSpPr/>
        <p:nvPr/>
      </p:nvGrpSpPr>
      <p:grpSpPr>
        <a:xfrm>
          <a:off x="0" y="0"/>
          <a:ext cx="0" cy="0"/>
          <a:chOff x="0" y="0"/>
          <a:chExt cx="0" cy="0"/>
        </a:xfrm>
      </p:grpSpPr>
      <p:sp>
        <p:nvSpPr>
          <p:cNvPr id="40" name="Google Shape;40;p9"/>
          <p:cNvSpPr/>
          <p:nvPr/>
        </p:nvSpPr>
        <p:spPr>
          <a:xfrm>
            <a:off x="0" y="-7086600"/>
            <a:ext cx="6400800" cy="12801600"/>
          </a:xfrm>
          <a:prstGeom prst="rtTriangle">
            <a:avLst/>
          </a:prstGeom>
          <a:solidFill>
            <a:srgbClr val="FCFCFC">
              <a:alpha val="921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latin typeface="Source Sans Pro"/>
              <a:ea typeface="Source Sans Pro"/>
              <a:cs typeface="Source Sans Pro"/>
              <a:sym typeface="Source Sans Pro"/>
            </a:endParaRPr>
          </a:p>
        </p:txBody>
      </p:sp>
      <p:sp>
        <p:nvSpPr>
          <p:cNvPr id="41" name="Google Shape;41;p9"/>
          <p:cNvSpPr txBox="1">
            <a:spLocks noGrp="1"/>
          </p:cNvSpPr>
          <p:nvPr>
            <p:ph type="title"/>
          </p:nvPr>
        </p:nvSpPr>
        <p:spPr>
          <a:xfrm>
            <a:off x="457200" y="1600200"/>
            <a:ext cx="4045200" cy="2514600"/>
          </a:xfrm>
          <a:prstGeom prst="rect">
            <a:avLst/>
          </a:prstGeom>
        </p:spPr>
        <p:txBody>
          <a:bodyPr spcFirstLastPara="1" wrap="square" lIns="0" tIns="0" rIns="0" bIns="0" anchor="ctr" anchorCtr="0">
            <a:noAutofit/>
          </a:bodyPr>
          <a:lstStyle>
            <a:lvl1pPr lvl="0">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2" name="Google Shape;42;p9"/>
          <p:cNvSpPr txBox="1">
            <a:spLocks noGrp="1"/>
          </p:cNvSpPr>
          <p:nvPr>
            <p:ph type="subTitle" idx="1"/>
          </p:nvPr>
        </p:nvSpPr>
        <p:spPr>
          <a:xfrm>
            <a:off x="457200" y="4114800"/>
            <a:ext cx="2743200" cy="914400"/>
          </a:xfrm>
          <a:prstGeom prst="rect">
            <a:avLst/>
          </a:prstGeom>
        </p:spPr>
        <p:txBody>
          <a:bodyPr spcFirstLastPara="1" wrap="square" lIns="0" tIns="0" rIns="0" bIns="0" anchor="t" anchorCtr="0">
            <a:noAutofit/>
          </a:bodyPr>
          <a:lstStyle>
            <a:lvl1pPr lvl="0">
              <a:lnSpc>
                <a:spcPct val="100000"/>
              </a:lnSpc>
              <a:spcBef>
                <a:spcPts val="0"/>
              </a:spcBef>
              <a:spcAft>
                <a:spcPts val="0"/>
              </a:spcAft>
              <a:buClr>
                <a:schemeClr val="accent1"/>
              </a:buClr>
              <a:buSzPts val="2100"/>
              <a:buFont typeface="Antonio Medium"/>
              <a:buNone/>
              <a:defRPr sz="2100">
                <a:solidFill>
                  <a:schemeClr val="accent1"/>
                </a:solidFill>
                <a:latin typeface="Antonio Medium"/>
                <a:ea typeface="Antonio Medium"/>
                <a:cs typeface="Antonio Medium"/>
                <a:sym typeface="Antonio Medium"/>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9"/>
          <p:cNvSpPr txBox="1">
            <a:spLocks noGrp="1"/>
          </p:cNvSpPr>
          <p:nvPr>
            <p:ph type="body" idx="2"/>
          </p:nvPr>
        </p:nvSpPr>
        <p:spPr>
          <a:xfrm>
            <a:off x="5029200" y="685800"/>
            <a:ext cx="3657600" cy="4343400"/>
          </a:xfrm>
          <a:prstGeom prst="rect">
            <a:avLst/>
          </a:prstGeom>
        </p:spPr>
        <p:txBody>
          <a:bodyPr spcFirstLastPara="1" wrap="square" lIns="0" tIns="0" rIns="0" bIns="0" anchor="ctr" anchorCtr="0">
            <a:noAutofit/>
          </a:bodyPr>
          <a:lstStyle>
            <a:lvl1pPr marL="457200" lvl="0" indent="-342900" algn="r">
              <a:spcBef>
                <a:spcPts val="0"/>
              </a:spcBef>
              <a:spcAft>
                <a:spcPts val="0"/>
              </a:spcAft>
              <a:buClr>
                <a:srgbClr val="FFFFFF"/>
              </a:buClr>
              <a:buSzPts val="1800"/>
              <a:buChar char="●"/>
              <a:defRPr>
                <a:solidFill>
                  <a:srgbClr val="FFFFFF"/>
                </a:solidFill>
              </a:defRPr>
            </a:lvl1pPr>
            <a:lvl2pPr marL="914400" lvl="1" indent="-317500" algn="r">
              <a:spcBef>
                <a:spcPts val="0"/>
              </a:spcBef>
              <a:spcAft>
                <a:spcPts val="0"/>
              </a:spcAft>
              <a:buClr>
                <a:srgbClr val="FFFFFF"/>
              </a:buClr>
              <a:buSzPts val="1400"/>
              <a:buChar char="○"/>
              <a:defRPr>
                <a:solidFill>
                  <a:srgbClr val="FFFFFF"/>
                </a:solidFill>
              </a:defRPr>
            </a:lvl2pPr>
            <a:lvl3pPr marL="1371600" lvl="2" indent="-317500" algn="r">
              <a:spcBef>
                <a:spcPts val="0"/>
              </a:spcBef>
              <a:spcAft>
                <a:spcPts val="0"/>
              </a:spcAft>
              <a:buClr>
                <a:srgbClr val="FFFFFF"/>
              </a:buClr>
              <a:buSzPts val="1400"/>
              <a:buChar char="■"/>
              <a:defRPr>
                <a:solidFill>
                  <a:srgbClr val="FFFFFF"/>
                </a:solidFill>
              </a:defRPr>
            </a:lvl3pPr>
            <a:lvl4pPr marL="1828800" lvl="3" indent="-317500" algn="r">
              <a:spcBef>
                <a:spcPts val="0"/>
              </a:spcBef>
              <a:spcAft>
                <a:spcPts val="0"/>
              </a:spcAft>
              <a:buClr>
                <a:srgbClr val="FFFFFF"/>
              </a:buClr>
              <a:buSzPts val="1400"/>
              <a:buChar char="●"/>
              <a:defRPr>
                <a:solidFill>
                  <a:srgbClr val="FFFFFF"/>
                </a:solidFill>
              </a:defRPr>
            </a:lvl4pPr>
            <a:lvl5pPr marL="2286000" lvl="4" indent="-317500" algn="r">
              <a:spcBef>
                <a:spcPts val="0"/>
              </a:spcBef>
              <a:spcAft>
                <a:spcPts val="0"/>
              </a:spcAft>
              <a:buClr>
                <a:srgbClr val="FFFFFF"/>
              </a:buClr>
              <a:buSzPts val="1400"/>
              <a:buChar char="○"/>
              <a:defRPr>
                <a:solidFill>
                  <a:srgbClr val="FFFFFF"/>
                </a:solidFill>
              </a:defRPr>
            </a:lvl5pPr>
            <a:lvl6pPr marL="2743200" lvl="5" indent="-317500" algn="r">
              <a:spcBef>
                <a:spcPts val="0"/>
              </a:spcBef>
              <a:spcAft>
                <a:spcPts val="0"/>
              </a:spcAft>
              <a:buClr>
                <a:srgbClr val="FFFFFF"/>
              </a:buClr>
              <a:buSzPts val="1400"/>
              <a:buChar char="■"/>
              <a:defRPr>
                <a:solidFill>
                  <a:srgbClr val="FFFFFF"/>
                </a:solidFill>
              </a:defRPr>
            </a:lvl6pPr>
            <a:lvl7pPr marL="3200400" lvl="6" indent="-317500" algn="r">
              <a:spcBef>
                <a:spcPts val="0"/>
              </a:spcBef>
              <a:spcAft>
                <a:spcPts val="0"/>
              </a:spcAft>
              <a:buClr>
                <a:srgbClr val="FFFFFF"/>
              </a:buClr>
              <a:buSzPts val="1400"/>
              <a:buChar char="●"/>
              <a:defRPr>
                <a:solidFill>
                  <a:srgbClr val="FFFFFF"/>
                </a:solidFill>
              </a:defRPr>
            </a:lvl7pPr>
            <a:lvl8pPr marL="3657600" lvl="7" indent="-317500" algn="r">
              <a:spcBef>
                <a:spcPts val="0"/>
              </a:spcBef>
              <a:spcAft>
                <a:spcPts val="0"/>
              </a:spcAft>
              <a:buClr>
                <a:srgbClr val="FFFFFF"/>
              </a:buClr>
              <a:buSzPts val="1400"/>
              <a:buChar char="○"/>
              <a:defRPr>
                <a:solidFill>
                  <a:srgbClr val="FFFFFF"/>
                </a:solidFill>
              </a:defRPr>
            </a:lvl8pPr>
            <a:lvl9pPr marL="4114800" lvl="8" indent="-317500" algn="r">
              <a:spcBef>
                <a:spcPts val="0"/>
              </a:spcBef>
              <a:spcAft>
                <a:spcPts val="0"/>
              </a:spcAft>
              <a:buClr>
                <a:srgbClr val="FFFFFF"/>
              </a:buClr>
              <a:buSzPts val="1400"/>
              <a:buChar char="■"/>
              <a:defRPr>
                <a:solidFill>
                  <a:srgbClr val="FFFFFF"/>
                </a:solidFill>
              </a:defRPr>
            </a:lvl9pPr>
          </a:lstStyle>
          <a:p>
            <a:endParaRPr/>
          </a:p>
        </p:txBody>
      </p:sp>
      <p:sp>
        <p:nvSpPr>
          <p:cNvPr id="44" name="Google Shape;44;p9"/>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45" name="Google Shape;45;p9"/>
          <p:cNvSpPr/>
          <p:nvPr/>
        </p:nvSpPr>
        <p:spPr>
          <a:xfrm>
            <a:off x="0" y="5029200"/>
            <a:ext cx="2743200" cy="685800"/>
          </a:xfrm>
          <a:prstGeom prst="rtTriangle">
            <a:avLst/>
          </a:prstGeom>
          <a:solidFill>
            <a:srgbClr val="FCFCFC">
              <a:alpha val="92160"/>
            </a:srgbClr>
          </a:solidFill>
          <a:ln>
            <a:noFill/>
          </a:ln>
        </p:spPr>
        <p:txBody>
          <a:bodyPr spcFirstLastPara="1" wrap="square" lIns="0" tIns="0" rIns="0" bIns="0" anchor="ctr" anchorCtr="0">
            <a:noAutofit/>
          </a:bodyPr>
          <a:lstStyle/>
          <a:p>
            <a:pPr marL="0" lvl="0" indent="0" algn="l" rtl="0">
              <a:spcBef>
                <a:spcPts val="0"/>
              </a:spcBef>
              <a:spcAft>
                <a:spcPts val="0"/>
              </a:spcAft>
              <a:buNone/>
            </a:pPr>
            <a:endParaRPr sz="1000">
              <a:solidFill>
                <a:srgbClr val="FFFFFF"/>
              </a:solidFill>
              <a:latin typeface="Source Sans Pro"/>
              <a:ea typeface="Source Sans Pro"/>
              <a:cs typeface="Source Sans Pro"/>
              <a:sym typeface="Source Sans Pro"/>
            </a:endParaRPr>
          </a:p>
        </p:txBody>
      </p:sp>
      <p:pic>
        <p:nvPicPr>
          <p:cNvPr id="46" name="Google Shape;46;p9" descr="Expect More" title="Expect More"/>
          <p:cNvPicPr preferRelativeResize="0"/>
          <p:nvPr/>
        </p:nvPicPr>
        <p:blipFill>
          <a:blip r:embed="rId3">
            <a:alphaModFix amt="60000"/>
          </a:blip>
          <a:stretch>
            <a:fillRect/>
          </a:stretch>
        </p:blipFill>
        <p:spPr>
          <a:xfrm>
            <a:off x="137160" y="5394675"/>
            <a:ext cx="914400" cy="2032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7"/>
        <p:cNvGrpSpPr/>
        <p:nvPr/>
      </p:nvGrpSpPr>
      <p:grpSpPr>
        <a:xfrm>
          <a:off x="0" y="0"/>
          <a:ext cx="0" cy="0"/>
          <a:chOff x="0" y="0"/>
          <a:chExt cx="0" cy="0"/>
        </a:xfrm>
      </p:grpSpPr>
      <p:sp>
        <p:nvSpPr>
          <p:cNvPr id="48" name="Google Shape;48;p10"/>
          <p:cNvSpPr txBox="1">
            <a:spLocks noGrp="1"/>
          </p:cNvSpPr>
          <p:nvPr>
            <p:ph type="body" idx="1"/>
          </p:nvPr>
        </p:nvSpPr>
        <p:spPr>
          <a:xfrm>
            <a:off x="457200" y="4572000"/>
            <a:ext cx="8229600" cy="457200"/>
          </a:xfrm>
          <a:prstGeom prst="rect">
            <a:avLst/>
          </a:prstGeom>
        </p:spPr>
        <p:txBody>
          <a:bodyPr spcFirstLastPara="1" wrap="square" lIns="0" tIns="0" rIns="0" bIns="0" anchor="ctr" anchorCtr="0">
            <a:noAutofit/>
          </a:bodyPr>
          <a:lstStyle>
            <a:lvl1pPr marL="457200" lvl="0" indent="-228600" algn="ctr">
              <a:lnSpc>
                <a:spcPct val="100000"/>
              </a:lnSpc>
              <a:spcBef>
                <a:spcPts val="0"/>
              </a:spcBef>
              <a:spcAft>
                <a:spcPts val="0"/>
              </a:spcAft>
              <a:buSzPts val="1800"/>
              <a:buNone/>
              <a:defRPr i="1"/>
            </a:lvl1pPr>
          </a:lstStyle>
          <a:p>
            <a:endParaRPr/>
          </a:p>
        </p:txBody>
      </p:sp>
      <p:sp>
        <p:nvSpPr>
          <p:cNvPr id="49" name="Google Shape;49;p10"/>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0"/>
        <p:cNvGrpSpPr/>
        <p:nvPr/>
      </p:nvGrpSpPr>
      <p:grpSpPr>
        <a:xfrm>
          <a:off x="0" y="0"/>
          <a:ext cx="0" cy="0"/>
          <a:chOff x="0" y="0"/>
          <a:chExt cx="0" cy="0"/>
        </a:xfrm>
      </p:grpSpPr>
      <p:sp>
        <p:nvSpPr>
          <p:cNvPr id="51" name="Google Shape;51;p11"/>
          <p:cNvSpPr txBox="1">
            <a:spLocks noGrp="1"/>
          </p:cNvSpPr>
          <p:nvPr>
            <p:ph type="title" hasCustomPrompt="1"/>
          </p:nvPr>
        </p:nvSpPr>
        <p:spPr>
          <a:xfrm>
            <a:off x="457200" y="685800"/>
            <a:ext cx="8229600" cy="3200400"/>
          </a:xfrm>
          <a:prstGeom prst="rect">
            <a:avLst/>
          </a:prstGeom>
        </p:spPr>
        <p:txBody>
          <a:bodyPr spcFirstLastPara="1" wrap="square" lIns="0" tIns="0" rIns="0" bIns="0"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52" name="Google Shape;52;p11"/>
          <p:cNvSpPr txBox="1">
            <a:spLocks noGrp="1"/>
          </p:cNvSpPr>
          <p:nvPr>
            <p:ph type="body" idx="1"/>
          </p:nvPr>
        </p:nvSpPr>
        <p:spPr>
          <a:xfrm>
            <a:off x="457200" y="3886199"/>
            <a:ext cx="8229600" cy="1143000"/>
          </a:xfrm>
          <a:prstGeom prst="rect">
            <a:avLst/>
          </a:prstGeom>
        </p:spPr>
        <p:txBody>
          <a:bodyPr spcFirstLastPara="1" wrap="square" lIns="0" tIns="0" rIns="0" bIns="0" anchor="t" anchorCtr="0">
            <a:noAutofit/>
          </a:bodyPr>
          <a:lstStyle>
            <a:lvl1pPr marL="457200" lvl="0" indent="-342900" algn="ctr">
              <a:spcBef>
                <a:spcPts val="0"/>
              </a:spcBef>
              <a:spcAft>
                <a:spcPts val="0"/>
              </a:spcAft>
              <a:buClr>
                <a:schemeClr val="accent1"/>
              </a:buClr>
              <a:buSzPts val="1800"/>
              <a:buFont typeface="Antonio Medium"/>
              <a:buChar char="●"/>
              <a:defRPr>
                <a:solidFill>
                  <a:schemeClr val="accent1"/>
                </a:solidFill>
                <a:latin typeface="Antonio Medium"/>
                <a:ea typeface="Antonio Medium"/>
                <a:cs typeface="Antonio Medium"/>
                <a:sym typeface="Antonio Medium"/>
              </a:defRPr>
            </a:lvl1pPr>
            <a:lvl2pPr marL="914400" lvl="1" indent="-317500" algn="ctr">
              <a:spcBef>
                <a:spcPts val="0"/>
              </a:spcBef>
              <a:spcAft>
                <a:spcPts val="0"/>
              </a:spcAft>
              <a:buClr>
                <a:schemeClr val="accent1"/>
              </a:buClr>
              <a:buSzPts val="1400"/>
              <a:buFont typeface="Antonio Medium"/>
              <a:buChar char="○"/>
              <a:defRPr>
                <a:solidFill>
                  <a:schemeClr val="accent1"/>
                </a:solidFill>
                <a:latin typeface="Antonio Medium"/>
                <a:ea typeface="Antonio Medium"/>
                <a:cs typeface="Antonio Medium"/>
                <a:sym typeface="Antonio Medium"/>
              </a:defRPr>
            </a:lvl2pPr>
            <a:lvl3pPr marL="1371600" lvl="2" indent="-317500" algn="ctr">
              <a:spcBef>
                <a:spcPts val="0"/>
              </a:spcBef>
              <a:spcAft>
                <a:spcPts val="0"/>
              </a:spcAft>
              <a:buClr>
                <a:schemeClr val="accent1"/>
              </a:buClr>
              <a:buSzPts val="1400"/>
              <a:buFont typeface="Antonio Medium"/>
              <a:buChar char="■"/>
              <a:defRPr>
                <a:solidFill>
                  <a:schemeClr val="accent1"/>
                </a:solidFill>
                <a:latin typeface="Antonio Medium"/>
                <a:ea typeface="Antonio Medium"/>
                <a:cs typeface="Antonio Medium"/>
                <a:sym typeface="Antonio Medium"/>
              </a:defRPr>
            </a:lvl3pPr>
            <a:lvl4pPr marL="1828800" lvl="3" indent="-317500" algn="ctr">
              <a:spcBef>
                <a:spcPts val="0"/>
              </a:spcBef>
              <a:spcAft>
                <a:spcPts val="0"/>
              </a:spcAft>
              <a:buClr>
                <a:schemeClr val="accent1"/>
              </a:buClr>
              <a:buSzPts val="1400"/>
              <a:buFont typeface="Antonio Medium"/>
              <a:buChar char="●"/>
              <a:defRPr>
                <a:solidFill>
                  <a:schemeClr val="accent1"/>
                </a:solidFill>
                <a:latin typeface="Antonio Medium"/>
                <a:ea typeface="Antonio Medium"/>
                <a:cs typeface="Antonio Medium"/>
                <a:sym typeface="Antonio Medium"/>
              </a:defRPr>
            </a:lvl4pPr>
            <a:lvl5pPr marL="2286000" lvl="4" indent="-317500" algn="ctr">
              <a:spcBef>
                <a:spcPts val="0"/>
              </a:spcBef>
              <a:spcAft>
                <a:spcPts val="0"/>
              </a:spcAft>
              <a:buClr>
                <a:schemeClr val="accent1"/>
              </a:buClr>
              <a:buSzPts val="1400"/>
              <a:buFont typeface="Antonio Medium"/>
              <a:buChar char="○"/>
              <a:defRPr>
                <a:solidFill>
                  <a:schemeClr val="accent1"/>
                </a:solidFill>
                <a:latin typeface="Antonio Medium"/>
                <a:ea typeface="Antonio Medium"/>
                <a:cs typeface="Antonio Medium"/>
                <a:sym typeface="Antonio Medium"/>
              </a:defRPr>
            </a:lvl5pPr>
            <a:lvl6pPr marL="2743200" lvl="5" indent="-317500" algn="ctr">
              <a:spcBef>
                <a:spcPts val="0"/>
              </a:spcBef>
              <a:spcAft>
                <a:spcPts val="0"/>
              </a:spcAft>
              <a:buClr>
                <a:schemeClr val="accent1"/>
              </a:buClr>
              <a:buSzPts val="1400"/>
              <a:buFont typeface="Antonio Medium"/>
              <a:buChar char="■"/>
              <a:defRPr>
                <a:solidFill>
                  <a:schemeClr val="accent1"/>
                </a:solidFill>
                <a:latin typeface="Antonio Medium"/>
                <a:ea typeface="Antonio Medium"/>
                <a:cs typeface="Antonio Medium"/>
                <a:sym typeface="Antonio Medium"/>
              </a:defRPr>
            </a:lvl6pPr>
            <a:lvl7pPr marL="3200400" lvl="6" indent="-317500" algn="ctr">
              <a:spcBef>
                <a:spcPts val="0"/>
              </a:spcBef>
              <a:spcAft>
                <a:spcPts val="0"/>
              </a:spcAft>
              <a:buClr>
                <a:schemeClr val="accent1"/>
              </a:buClr>
              <a:buSzPts val="1400"/>
              <a:buFont typeface="Antonio Medium"/>
              <a:buChar char="●"/>
              <a:defRPr>
                <a:solidFill>
                  <a:schemeClr val="accent1"/>
                </a:solidFill>
                <a:latin typeface="Antonio Medium"/>
                <a:ea typeface="Antonio Medium"/>
                <a:cs typeface="Antonio Medium"/>
                <a:sym typeface="Antonio Medium"/>
              </a:defRPr>
            </a:lvl7pPr>
            <a:lvl8pPr marL="3657600" lvl="7" indent="-317500" algn="ctr">
              <a:spcBef>
                <a:spcPts val="0"/>
              </a:spcBef>
              <a:spcAft>
                <a:spcPts val="0"/>
              </a:spcAft>
              <a:buClr>
                <a:schemeClr val="accent1"/>
              </a:buClr>
              <a:buSzPts val="1400"/>
              <a:buFont typeface="Antonio Medium"/>
              <a:buChar char="○"/>
              <a:defRPr>
                <a:solidFill>
                  <a:schemeClr val="accent1"/>
                </a:solidFill>
                <a:latin typeface="Antonio Medium"/>
                <a:ea typeface="Antonio Medium"/>
                <a:cs typeface="Antonio Medium"/>
                <a:sym typeface="Antonio Medium"/>
              </a:defRPr>
            </a:lvl8pPr>
            <a:lvl9pPr marL="4114800" lvl="8" indent="-317500" algn="ctr">
              <a:spcBef>
                <a:spcPts val="0"/>
              </a:spcBef>
              <a:spcAft>
                <a:spcPts val="0"/>
              </a:spcAft>
              <a:buClr>
                <a:schemeClr val="accent1"/>
              </a:buClr>
              <a:buSzPts val="1400"/>
              <a:buFont typeface="Antonio Medium"/>
              <a:buChar char="■"/>
              <a:defRPr>
                <a:solidFill>
                  <a:schemeClr val="accent1"/>
                </a:solidFill>
                <a:latin typeface="Antonio Medium"/>
                <a:ea typeface="Antonio Medium"/>
                <a:cs typeface="Antonio Medium"/>
                <a:sym typeface="Antonio Medium"/>
              </a:defRPr>
            </a:lvl9pPr>
          </a:lstStyle>
          <a:p>
            <a:endParaRPr/>
          </a:p>
        </p:txBody>
      </p:sp>
      <p:sp>
        <p:nvSpPr>
          <p:cNvPr id="53" name="Google Shape;53;p11"/>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2"/>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Photo Gallery">
  <p:cSld name="BLANK_1">
    <p:spTree>
      <p:nvGrpSpPr>
        <p:cNvPr id="1" name="Shape 56"/>
        <p:cNvGrpSpPr/>
        <p:nvPr/>
      </p:nvGrpSpPr>
      <p:grpSpPr>
        <a:xfrm>
          <a:off x="0" y="0"/>
          <a:ext cx="0" cy="0"/>
          <a:chOff x="0" y="0"/>
          <a:chExt cx="0" cy="0"/>
        </a:xfrm>
      </p:grpSpPr>
      <p:sp>
        <p:nvSpPr>
          <p:cNvPr id="57" name="Google Shape;57;p13"/>
          <p:cNvSpPr txBox="1">
            <a:spLocks noGrp="1"/>
          </p:cNvSpPr>
          <p:nvPr>
            <p:ph type="sldNum" idx="12"/>
          </p:nvPr>
        </p:nvSpPr>
        <p:spPr>
          <a:xfrm>
            <a:off x="8229600" y="5334000"/>
            <a:ext cx="914400" cy="381000"/>
          </a:xfrm>
          <a:prstGeom prst="rect">
            <a:avLst/>
          </a:prstGeom>
        </p:spPr>
        <p:txBody>
          <a:bodyPr spcFirstLastPara="1" wrap="square" lIns="0" tIns="0" rIns="228600" bIns="228600" anchor="b"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8" name="Google Shape;58;p13"/>
          <p:cNvSpPr>
            <a:spLocks noGrp="1"/>
          </p:cNvSpPr>
          <p:nvPr>
            <p:ph type="pic" idx="2"/>
          </p:nvPr>
        </p:nvSpPr>
        <p:spPr>
          <a:xfrm>
            <a:off x="685800" y="685800"/>
            <a:ext cx="3200400" cy="4343400"/>
          </a:xfrm>
          <a:prstGeom prst="rect">
            <a:avLst/>
          </a:prstGeom>
          <a:noFill/>
          <a:ln>
            <a:noFill/>
          </a:ln>
        </p:spPr>
      </p:sp>
      <p:sp>
        <p:nvSpPr>
          <p:cNvPr id="59" name="Google Shape;59;p13"/>
          <p:cNvSpPr>
            <a:spLocks noGrp="1"/>
          </p:cNvSpPr>
          <p:nvPr>
            <p:ph type="pic" idx="3"/>
          </p:nvPr>
        </p:nvSpPr>
        <p:spPr>
          <a:xfrm>
            <a:off x="4114800" y="685800"/>
            <a:ext cx="4343400" cy="2057400"/>
          </a:xfrm>
          <a:prstGeom prst="rect">
            <a:avLst/>
          </a:prstGeom>
          <a:noFill/>
          <a:ln>
            <a:noFill/>
          </a:ln>
        </p:spPr>
      </p:sp>
      <p:sp>
        <p:nvSpPr>
          <p:cNvPr id="60" name="Google Shape;60;p13"/>
          <p:cNvSpPr>
            <a:spLocks noGrp="1"/>
          </p:cNvSpPr>
          <p:nvPr>
            <p:ph type="pic" idx="4"/>
          </p:nvPr>
        </p:nvSpPr>
        <p:spPr>
          <a:xfrm>
            <a:off x="7543800" y="4114800"/>
            <a:ext cx="914400" cy="914400"/>
          </a:xfrm>
          <a:prstGeom prst="rect">
            <a:avLst/>
          </a:prstGeom>
          <a:noFill/>
          <a:ln>
            <a:noFill/>
          </a:ln>
        </p:spPr>
      </p:sp>
      <p:sp>
        <p:nvSpPr>
          <p:cNvPr id="61" name="Google Shape;61;p13"/>
          <p:cNvSpPr>
            <a:spLocks noGrp="1"/>
          </p:cNvSpPr>
          <p:nvPr>
            <p:ph type="pic" idx="5"/>
          </p:nvPr>
        </p:nvSpPr>
        <p:spPr>
          <a:xfrm>
            <a:off x="7543800" y="2971800"/>
            <a:ext cx="914400" cy="914400"/>
          </a:xfrm>
          <a:prstGeom prst="rect">
            <a:avLst/>
          </a:prstGeom>
          <a:noFill/>
          <a:ln>
            <a:noFill/>
          </a:ln>
        </p:spPr>
      </p:sp>
      <p:sp>
        <p:nvSpPr>
          <p:cNvPr id="62" name="Google Shape;62;p13"/>
          <p:cNvSpPr>
            <a:spLocks noGrp="1"/>
          </p:cNvSpPr>
          <p:nvPr>
            <p:ph type="pic" idx="6"/>
          </p:nvPr>
        </p:nvSpPr>
        <p:spPr>
          <a:xfrm>
            <a:off x="4114800" y="2971800"/>
            <a:ext cx="3200400" cy="2057400"/>
          </a:xfrm>
          <a:prstGeom prst="rect">
            <a:avLst/>
          </a:prstGeom>
          <a:noFill/>
          <a:ln>
            <a:noFill/>
          </a:ln>
        </p:spPr>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685800"/>
            <a:ext cx="8229600" cy="457200"/>
          </a:xfrm>
          <a:prstGeom prst="rect">
            <a:avLst/>
          </a:prstGeom>
          <a:noFill/>
          <a:ln>
            <a:noFill/>
          </a:ln>
        </p:spPr>
        <p:txBody>
          <a:bodyPr spcFirstLastPara="1" wrap="square" lIns="0" tIns="0" rIns="0" bIns="0" anchor="t" anchorCtr="0">
            <a:noAutofit/>
          </a:bodyPr>
          <a:lstStyle>
            <a:lvl1pPr lvl="0">
              <a:spcBef>
                <a:spcPts val="0"/>
              </a:spcBef>
              <a:spcAft>
                <a:spcPts val="0"/>
              </a:spcAft>
              <a:buClr>
                <a:schemeClr val="dk1"/>
              </a:buClr>
              <a:buSzPts val="2800"/>
              <a:buFont typeface="Antonio"/>
              <a:buNone/>
              <a:defRPr sz="2800" b="1">
                <a:solidFill>
                  <a:schemeClr val="dk1"/>
                </a:solidFill>
                <a:latin typeface="Antonio"/>
                <a:ea typeface="Antonio"/>
                <a:cs typeface="Antonio"/>
                <a:sym typeface="Antonio"/>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57200" y="1371600"/>
            <a:ext cx="8229600" cy="3657600"/>
          </a:xfrm>
          <a:prstGeom prst="rect">
            <a:avLst/>
          </a:prstGeom>
          <a:noFill/>
          <a:ln>
            <a:noFill/>
          </a:ln>
        </p:spPr>
        <p:txBody>
          <a:bodyPr spcFirstLastPara="1" wrap="square" lIns="0" tIns="0" rIns="0" bIns="0" anchor="t" anchorCtr="0">
            <a:noAutofit/>
          </a:bodyPr>
          <a:lstStyle>
            <a:lvl1pPr marL="457200" lvl="0" indent="-342900">
              <a:lnSpc>
                <a:spcPct val="115000"/>
              </a:lnSpc>
              <a:spcBef>
                <a:spcPts val="0"/>
              </a:spcBef>
              <a:spcAft>
                <a:spcPts val="0"/>
              </a:spcAft>
              <a:buClr>
                <a:schemeClr val="dk2"/>
              </a:buClr>
              <a:buSzPts val="1800"/>
              <a:buFont typeface="Source Sans Pro"/>
              <a:buChar char="●"/>
              <a:defRPr sz="1800">
                <a:solidFill>
                  <a:schemeClr val="dk2"/>
                </a:solidFill>
                <a:latin typeface="Source Sans Pro"/>
                <a:ea typeface="Source Sans Pro"/>
                <a:cs typeface="Source Sans Pro"/>
                <a:sym typeface="Source Sans Pro"/>
              </a:defRPr>
            </a:lvl1pPr>
            <a:lvl2pPr marL="914400" lvl="1" indent="-317500">
              <a:lnSpc>
                <a:spcPct val="115000"/>
              </a:lnSpc>
              <a:spcBef>
                <a:spcPts val="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2pPr>
            <a:lvl3pPr marL="1371600" lvl="2" indent="-317500">
              <a:lnSpc>
                <a:spcPct val="115000"/>
              </a:lnSpc>
              <a:spcBef>
                <a:spcPts val="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3pPr>
            <a:lvl4pPr marL="1828800" lvl="3" indent="-317500">
              <a:lnSpc>
                <a:spcPct val="115000"/>
              </a:lnSpc>
              <a:spcBef>
                <a:spcPts val="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4pPr>
            <a:lvl5pPr marL="2286000" lvl="4" indent="-317500">
              <a:lnSpc>
                <a:spcPct val="115000"/>
              </a:lnSpc>
              <a:spcBef>
                <a:spcPts val="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5pPr>
            <a:lvl6pPr marL="2743200" lvl="5" indent="-317500">
              <a:lnSpc>
                <a:spcPct val="115000"/>
              </a:lnSpc>
              <a:spcBef>
                <a:spcPts val="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6pPr>
            <a:lvl7pPr marL="3200400" lvl="6" indent="-317500">
              <a:lnSpc>
                <a:spcPct val="115000"/>
              </a:lnSpc>
              <a:spcBef>
                <a:spcPts val="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7pPr>
            <a:lvl8pPr marL="3657600" lvl="7" indent="-317500">
              <a:lnSpc>
                <a:spcPct val="115000"/>
              </a:lnSpc>
              <a:spcBef>
                <a:spcPts val="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8pPr>
            <a:lvl9pPr marL="4114800" lvl="8" indent="-317500">
              <a:lnSpc>
                <a:spcPct val="115000"/>
              </a:lnSpc>
              <a:spcBef>
                <a:spcPts val="0"/>
              </a:spcBef>
              <a:spcAft>
                <a:spcPts val="0"/>
              </a:spcAft>
              <a:buClr>
                <a:schemeClr val="dk2"/>
              </a:buClr>
              <a:buSzPts val="1400"/>
              <a:buFont typeface="Source Sans Pro"/>
              <a:buChar char="■"/>
              <a:defRPr>
                <a:solidFill>
                  <a:schemeClr val="dk2"/>
                </a:solidFill>
                <a:latin typeface="Source Sans Pro"/>
                <a:ea typeface="Source Sans Pro"/>
                <a:cs typeface="Source Sans Pro"/>
                <a:sym typeface="Source Sans Pro"/>
              </a:defRPr>
            </a:lvl9pPr>
          </a:lstStyle>
          <a:p>
            <a:endParaRPr/>
          </a:p>
        </p:txBody>
      </p:sp>
      <p:sp>
        <p:nvSpPr>
          <p:cNvPr id="8" name="Google Shape;8;p1"/>
          <p:cNvSpPr txBox="1">
            <a:spLocks noGrp="1"/>
          </p:cNvSpPr>
          <p:nvPr>
            <p:ph type="sldNum" idx="12"/>
          </p:nvPr>
        </p:nvSpPr>
        <p:spPr>
          <a:xfrm>
            <a:off x="8229600" y="5257795"/>
            <a:ext cx="914400" cy="457200"/>
          </a:xfrm>
          <a:prstGeom prst="rect">
            <a:avLst/>
          </a:prstGeom>
          <a:noFill/>
          <a:ln>
            <a:noFill/>
          </a:ln>
        </p:spPr>
        <p:txBody>
          <a:bodyPr spcFirstLastPara="1" wrap="square" lIns="0" tIns="0" rIns="228600" bIns="228600" anchor="b" anchorCtr="0">
            <a:noAutofit/>
          </a:bodyPr>
          <a:lstStyle>
            <a:lvl1pPr lvl="0" algn="r">
              <a:buNone/>
              <a:defRPr sz="1000">
                <a:solidFill>
                  <a:srgbClr val="555555"/>
                </a:solidFill>
              </a:defRPr>
            </a:lvl1pPr>
            <a:lvl2pPr lvl="1" algn="r">
              <a:buNone/>
              <a:defRPr sz="1000">
                <a:solidFill>
                  <a:srgbClr val="555555"/>
                </a:solidFill>
              </a:defRPr>
            </a:lvl2pPr>
            <a:lvl3pPr lvl="2" algn="r">
              <a:buNone/>
              <a:defRPr sz="1000">
                <a:solidFill>
                  <a:srgbClr val="555555"/>
                </a:solidFill>
              </a:defRPr>
            </a:lvl3pPr>
            <a:lvl4pPr lvl="3" algn="r">
              <a:buNone/>
              <a:defRPr sz="1000">
                <a:solidFill>
                  <a:srgbClr val="555555"/>
                </a:solidFill>
              </a:defRPr>
            </a:lvl4pPr>
            <a:lvl5pPr lvl="4" algn="r">
              <a:buNone/>
              <a:defRPr sz="1000">
                <a:solidFill>
                  <a:srgbClr val="555555"/>
                </a:solidFill>
              </a:defRPr>
            </a:lvl5pPr>
            <a:lvl6pPr lvl="5" algn="r">
              <a:buNone/>
              <a:defRPr sz="1000">
                <a:solidFill>
                  <a:srgbClr val="555555"/>
                </a:solidFill>
              </a:defRPr>
            </a:lvl6pPr>
            <a:lvl7pPr lvl="6" algn="r">
              <a:buNone/>
              <a:defRPr sz="1000">
                <a:solidFill>
                  <a:srgbClr val="555555"/>
                </a:solidFill>
              </a:defRPr>
            </a:lvl7pPr>
            <a:lvl8pPr lvl="7" algn="r">
              <a:buNone/>
              <a:defRPr sz="1000">
                <a:solidFill>
                  <a:srgbClr val="555555"/>
                </a:solidFill>
              </a:defRPr>
            </a:lvl8pPr>
            <a:lvl9pPr lvl="8" algn="r">
              <a:buNone/>
              <a:defRPr sz="1000">
                <a:solidFill>
                  <a:srgbClr val="555555"/>
                </a:solidFill>
              </a:defRPr>
            </a:lvl9pPr>
          </a:lstStyle>
          <a:p>
            <a:pPr marL="0" lvl="0" indent="0" algn="r" rtl="0">
              <a:spcBef>
                <a:spcPts val="0"/>
              </a:spcBef>
              <a:spcAft>
                <a:spcPts val="0"/>
              </a:spcAft>
              <a:buNone/>
            </a:pPr>
            <a:fld id="{00000000-1234-1234-1234-123412341234}" type="slidenum">
              <a:rPr lang="en"/>
              <a:t>‹#›</a:t>
            </a:fld>
            <a:endParaRPr>
              <a:latin typeface="Source Sans Pro"/>
              <a:ea typeface="Source Sans Pro"/>
              <a:cs typeface="Source Sans Pro"/>
              <a:sym typeface="Source Sans Pro"/>
            </a:endParaRPr>
          </a:p>
        </p:txBody>
      </p:sp>
      <p:sp>
        <p:nvSpPr>
          <p:cNvPr id="9" name="Google Shape;9;p1"/>
          <p:cNvSpPr/>
          <p:nvPr/>
        </p:nvSpPr>
        <p:spPr>
          <a:xfrm>
            <a:off x="0" y="5029200"/>
            <a:ext cx="2743200" cy="685800"/>
          </a:xfrm>
          <a:prstGeom prst="rtTriangle">
            <a:avLst/>
          </a:prstGeom>
          <a:solidFill>
            <a:srgbClr val="6E2639"/>
          </a:solidFill>
          <a:ln>
            <a:noFill/>
          </a:ln>
        </p:spPr>
        <p:txBody>
          <a:bodyPr spcFirstLastPara="1" wrap="square" lIns="0" tIns="0" rIns="0" bIns="0" anchor="ctr" anchorCtr="0">
            <a:noAutofit/>
          </a:bodyPr>
          <a:lstStyle/>
          <a:p>
            <a:pPr marL="0" lvl="0" indent="0" algn="l" rtl="0">
              <a:spcBef>
                <a:spcPts val="0"/>
              </a:spcBef>
              <a:spcAft>
                <a:spcPts val="0"/>
              </a:spcAft>
              <a:buNone/>
            </a:pPr>
            <a:endParaRPr sz="1000">
              <a:solidFill>
                <a:srgbClr val="FFFFFF"/>
              </a:solidFill>
              <a:latin typeface="Source Sans Pro"/>
              <a:ea typeface="Source Sans Pro"/>
              <a:cs typeface="Source Sans Pro"/>
              <a:sym typeface="Source Sans Pro"/>
            </a:endParaRPr>
          </a:p>
        </p:txBody>
      </p:sp>
      <p:pic>
        <p:nvPicPr>
          <p:cNvPr id="10" name="Google Shape;10;p1" descr="Expect More" title="Expect More"/>
          <p:cNvPicPr preferRelativeResize="0"/>
          <p:nvPr/>
        </p:nvPicPr>
        <p:blipFill>
          <a:blip r:embed="rId14">
            <a:alphaModFix/>
          </a:blip>
          <a:stretch>
            <a:fillRect/>
          </a:stretch>
        </p:blipFill>
        <p:spPr>
          <a:xfrm>
            <a:off x="137160" y="5394675"/>
            <a:ext cx="914400" cy="203200"/>
          </a:xfrm>
          <a:prstGeom prst="rect">
            <a:avLst/>
          </a:prstGeom>
          <a:noFill/>
          <a:ln>
            <a:noFill/>
          </a:ln>
        </p:spPr>
      </p:pic>
      <p:sp>
        <p:nvSpPr>
          <p:cNvPr id="11" name="Google Shape;11;p1"/>
          <p:cNvSpPr/>
          <p:nvPr/>
        </p:nvSpPr>
        <p:spPr>
          <a:xfrm rot="10800000">
            <a:off x="6400800" y="0"/>
            <a:ext cx="2743200" cy="685800"/>
          </a:xfrm>
          <a:prstGeom prst="rtTriangle">
            <a:avLst/>
          </a:prstGeom>
          <a:solidFill>
            <a:srgbClr val="6E2639"/>
          </a:solidFill>
          <a:ln>
            <a:noFill/>
          </a:ln>
        </p:spPr>
        <p:txBody>
          <a:bodyPr spcFirstLastPara="1" wrap="square" lIns="0" tIns="0" rIns="0" bIns="0" anchor="ctr" anchorCtr="0">
            <a:noAutofit/>
          </a:bodyPr>
          <a:lstStyle/>
          <a:p>
            <a:pPr marL="0" lvl="0" indent="0" algn="l" rtl="0">
              <a:spcBef>
                <a:spcPts val="0"/>
              </a:spcBef>
              <a:spcAft>
                <a:spcPts val="0"/>
              </a:spcAft>
              <a:buNone/>
            </a:pPr>
            <a:endParaRPr sz="1000">
              <a:solidFill>
                <a:srgbClr val="FFFFFF"/>
              </a:solidFill>
              <a:latin typeface="Source Sans Pro"/>
              <a:ea typeface="Source Sans Pro"/>
              <a:cs typeface="Source Sans Pro"/>
              <a:sym typeface="Source Sans Pro"/>
            </a:endParaRPr>
          </a:p>
        </p:txBody>
      </p:sp>
      <p:pic>
        <p:nvPicPr>
          <p:cNvPr id="12" name="Google Shape;12;p1" descr="UA Little Rock Logo" title="UA Little Rock Logo"/>
          <p:cNvPicPr preferRelativeResize="0"/>
          <p:nvPr/>
        </p:nvPicPr>
        <p:blipFill>
          <a:blip r:embed="rId15">
            <a:alphaModFix/>
          </a:blip>
          <a:stretch>
            <a:fillRect/>
          </a:stretch>
        </p:blipFill>
        <p:spPr>
          <a:xfrm>
            <a:off x="8229600" y="91440"/>
            <a:ext cx="822960" cy="329184"/>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3" Type="http://schemas.openxmlformats.org/officeDocument/2006/relationships/image" Target="../media/image13.png"/><Relationship Id="rId7" Type="http://schemas.openxmlformats.org/officeDocument/2006/relationships/image" Target="../media/image17.png"/><Relationship Id="rId12"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6.xml.rels><?xml version="1.0" encoding="UTF-8" standalone="yes"?>
<Relationships xmlns="http://schemas.openxmlformats.org/package/2006/relationships"><Relationship Id="rId3" Type="http://schemas.openxmlformats.org/officeDocument/2006/relationships/hyperlink" Target="http://www.ecfr.gov/current/title-18/chapter-I/subchapter-A/part-1c"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6.png"/></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9.xml"/><Relationship Id="rId1" Type="http://schemas.openxmlformats.org/officeDocument/2006/relationships/slideLayout" Target="../slideLayouts/slideLayout10.xml"/><Relationship Id="rId4" Type="http://schemas.openxmlformats.org/officeDocument/2006/relationships/hyperlink" Target="https://www.ferc.gov/electric-power-markets/"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0.xml"/><Relationship Id="rId1" Type="http://schemas.openxmlformats.org/officeDocument/2006/relationships/slideLayout" Target="../slideLayouts/slideLayout4.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image" Target="../media/image44.png"/><Relationship Id="rId4" Type="http://schemas.openxmlformats.org/officeDocument/2006/relationships/image" Target="../media/image43.png"/></Relationships>
</file>

<file path=ppt/slides/_rels/slide2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3.xml"/><Relationship Id="rId1" Type="http://schemas.openxmlformats.org/officeDocument/2006/relationships/slideLayout" Target="../slideLayouts/slideLayout4.xml"/><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47.png"/></Relationships>
</file>

<file path=ppt/slides/_rels/slide2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image" Target="../media/image50.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9.xml"/><Relationship Id="rId1" Type="http://schemas.openxmlformats.org/officeDocument/2006/relationships/slideLayout" Target="../slideLayouts/slideLayout4.xml"/><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3" Type="http://schemas.openxmlformats.org/officeDocument/2006/relationships/hyperlink" Target="https://github.com/echarlesgrasby/seasug-2026-paper" TargetMode="External"/><Relationship Id="rId2" Type="http://schemas.openxmlformats.org/officeDocument/2006/relationships/notesSlide" Target="../notesSlides/notesSlide30.xml"/><Relationship Id="rId1" Type="http://schemas.openxmlformats.org/officeDocument/2006/relationships/slideLayout" Target="../slideLayouts/slideLayout3.xml"/><Relationship Id="rId4" Type="http://schemas.openxmlformats.org/officeDocument/2006/relationships/image" Target="../media/image53.png"/></Relationships>
</file>

<file path=ppt/slides/_rels/slide31.xml.rels><?xml version="1.0" encoding="UTF-8" standalone="yes"?>
<Relationships xmlns="http://schemas.openxmlformats.org/package/2006/relationships"><Relationship Id="rId8" Type="http://schemas.openxmlformats.org/officeDocument/2006/relationships/hyperlink" Target="https://spp.org/" TargetMode="External"/><Relationship Id="rId3" Type="http://schemas.openxmlformats.org/officeDocument/2006/relationships/hyperlink" Target="mailto:ecgrasby@ualr.edu" TargetMode="External"/><Relationship Id="rId7" Type="http://schemas.openxmlformats.org/officeDocument/2006/relationships/hyperlink" Target="https://ualr.edu/" TargetMode="External"/><Relationship Id="rId2" Type="http://schemas.openxmlformats.org/officeDocument/2006/relationships/notesSlide" Target="../notesSlides/notesSlide31.xml"/><Relationship Id="rId1" Type="http://schemas.openxmlformats.org/officeDocument/2006/relationships/slideLayout" Target="../slideLayouts/slideLayout8.xml"/><Relationship Id="rId6" Type="http://schemas.openxmlformats.org/officeDocument/2006/relationships/image" Target="../media/image54.png"/><Relationship Id="rId5" Type="http://schemas.openxmlformats.org/officeDocument/2006/relationships/hyperlink" Target="mailto:maria@ochotonaanalytics.com" TargetMode="External"/><Relationship Id="rId4" Type="http://schemas.openxmlformats.org/officeDocument/2006/relationships/hyperlink" Target="mailto:jdberleant@ualr.edu" TargetMode="External"/></Relationships>
</file>

<file path=ppt/slides/_rels/slide32.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8.xml"/><Relationship Id="rId6" Type="http://schemas.openxmlformats.org/officeDocument/2006/relationships/image" Target="../media/image12.png"/><Relationship Id="rId5" Type="http://schemas.openxmlformats.org/officeDocument/2006/relationships/image" Target="../media/image9.pn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ctrTitle"/>
          </p:nvPr>
        </p:nvSpPr>
        <p:spPr>
          <a:xfrm>
            <a:off x="457200" y="457200"/>
            <a:ext cx="8636700" cy="22860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A Domain-Specific Language for Market Monitoring: From Domain Logic to SAS Code</a:t>
            </a:r>
            <a:endParaRPr/>
          </a:p>
        </p:txBody>
      </p:sp>
      <p:sp>
        <p:nvSpPr>
          <p:cNvPr id="68" name="Google Shape;68;p14"/>
          <p:cNvSpPr txBox="1">
            <a:spLocks noGrp="1"/>
          </p:cNvSpPr>
          <p:nvPr>
            <p:ph type="subTitle" idx="1"/>
          </p:nvPr>
        </p:nvSpPr>
        <p:spPr>
          <a:xfrm>
            <a:off x="457200" y="2992575"/>
            <a:ext cx="4292400" cy="2057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SEASUG 2026; Malvern, PA</a:t>
            </a:r>
            <a:endParaRPr/>
          </a:p>
          <a:p>
            <a:pPr marL="0" lvl="0" indent="0" algn="l" rtl="0">
              <a:spcBef>
                <a:spcPts val="0"/>
              </a:spcBef>
              <a:spcAft>
                <a:spcPts val="0"/>
              </a:spcAft>
              <a:buNone/>
            </a:pPr>
            <a:endParaRPr/>
          </a:p>
          <a:p>
            <a:pPr marL="0" lvl="0" indent="0" algn="l" rtl="0">
              <a:spcBef>
                <a:spcPts val="0"/>
              </a:spcBef>
              <a:spcAft>
                <a:spcPts val="0"/>
              </a:spcAft>
              <a:buNone/>
            </a:pPr>
            <a:r>
              <a:rPr lang="en"/>
              <a:t>Eric C. Grasby, MSIQ</a:t>
            </a:r>
            <a:endParaRPr/>
          </a:p>
          <a:p>
            <a:pPr marL="0" lvl="0" indent="0" algn="l" rtl="0">
              <a:spcBef>
                <a:spcPts val="0"/>
              </a:spcBef>
              <a:spcAft>
                <a:spcPts val="0"/>
              </a:spcAft>
              <a:buNone/>
            </a:pPr>
            <a:r>
              <a:rPr lang="en"/>
              <a:t>October 22-24,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5"/>
          <p:cNvSpPr txBox="1">
            <a:spLocks noGrp="1"/>
          </p:cNvSpPr>
          <p:nvPr>
            <p:ph type="body" idx="2"/>
          </p:nvPr>
        </p:nvSpPr>
        <p:spPr>
          <a:xfrm>
            <a:off x="6524150" y="3747500"/>
            <a:ext cx="2337600" cy="385800"/>
          </a:xfrm>
          <a:prstGeom prst="rect">
            <a:avLst/>
          </a:prstGeom>
          <a:effectLst>
            <a:outerShdw blurRad="57150" dist="19050" dir="5400000" algn="bl" rotWithShape="0">
              <a:srgbClr val="FCFCFC">
                <a:alpha val="50000"/>
              </a:srgbClr>
            </a:outerShdw>
          </a:effectLst>
        </p:spPr>
        <p:txBody>
          <a:bodyPr spcFirstLastPara="1" wrap="square" lIns="0" tIns="0" rIns="0" bIns="0" anchor="ctr" anchorCtr="0">
            <a:noAutofit/>
          </a:bodyPr>
          <a:lstStyle/>
          <a:p>
            <a:pPr marL="0" lvl="0" indent="0" algn="ctr" rtl="0">
              <a:spcBef>
                <a:spcPts val="0"/>
              </a:spcBef>
              <a:spcAft>
                <a:spcPts val="1200"/>
              </a:spcAft>
              <a:buNone/>
            </a:pPr>
            <a:r>
              <a:rPr lang="en" sz="2300"/>
              <a:t>Dr. Daniel Berleant</a:t>
            </a:r>
            <a:endParaRPr sz="2300"/>
          </a:p>
        </p:txBody>
      </p:sp>
      <p:sp>
        <p:nvSpPr>
          <p:cNvPr id="74" name="Google Shape;74;p15"/>
          <p:cNvSpPr txBox="1">
            <a:spLocks noGrp="1"/>
          </p:cNvSpPr>
          <p:nvPr>
            <p:ph type="body" idx="2"/>
          </p:nvPr>
        </p:nvSpPr>
        <p:spPr>
          <a:xfrm>
            <a:off x="1687375" y="3747500"/>
            <a:ext cx="2143500" cy="385800"/>
          </a:xfrm>
          <a:prstGeom prst="rect">
            <a:avLst/>
          </a:prstGeom>
          <a:effectLst>
            <a:outerShdw blurRad="57150" dist="19050" dir="5400000" algn="bl" rotWithShape="0">
              <a:srgbClr val="6E2639">
                <a:alpha val="71000"/>
              </a:srgbClr>
            </a:outerShdw>
          </a:effectLst>
        </p:spPr>
        <p:txBody>
          <a:bodyPr spcFirstLastPara="1" wrap="square" lIns="0" tIns="0" rIns="0" bIns="0" anchor="ctr" anchorCtr="0">
            <a:noAutofit/>
          </a:bodyPr>
          <a:lstStyle/>
          <a:p>
            <a:pPr marL="0" lvl="0" indent="0" algn="ctr" rtl="0">
              <a:spcBef>
                <a:spcPts val="0"/>
              </a:spcBef>
              <a:spcAft>
                <a:spcPts val="1200"/>
              </a:spcAft>
              <a:buNone/>
            </a:pPr>
            <a:r>
              <a:rPr lang="en" sz="2300">
                <a:solidFill>
                  <a:schemeClr val="dk1"/>
                </a:solidFill>
              </a:rPr>
              <a:t>Dr. Maria Gingras</a:t>
            </a:r>
            <a:endParaRPr sz="2300">
              <a:solidFill>
                <a:schemeClr val="dk1"/>
              </a:solidFill>
            </a:endParaRPr>
          </a:p>
        </p:txBody>
      </p:sp>
      <p:pic>
        <p:nvPicPr>
          <p:cNvPr id="75" name="Google Shape;75;p15"/>
          <p:cNvPicPr preferRelativeResize="0"/>
          <p:nvPr/>
        </p:nvPicPr>
        <p:blipFill>
          <a:blip r:embed="rId3">
            <a:alphaModFix/>
          </a:blip>
          <a:stretch>
            <a:fillRect/>
          </a:stretch>
        </p:blipFill>
        <p:spPr>
          <a:xfrm>
            <a:off x="47329" y="1531626"/>
            <a:ext cx="2096271" cy="2096300"/>
          </a:xfrm>
          <a:prstGeom prst="rect">
            <a:avLst/>
          </a:prstGeom>
          <a:noFill/>
          <a:ln>
            <a:noFill/>
          </a:ln>
        </p:spPr>
      </p:pic>
      <p:pic>
        <p:nvPicPr>
          <p:cNvPr id="76" name="Google Shape;76;p15"/>
          <p:cNvPicPr preferRelativeResize="0"/>
          <p:nvPr/>
        </p:nvPicPr>
        <p:blipFill>
          <a:blip r:embed="rId4">
            <a:alphaModFix/>
          </a:blip>
          <a:stretch>
            <a:fillRect/>
          </a:stretch>
        </p:blipFill>
        <p:spPr>
          <a:xfrm>
            <a:off x="5343900" y="1531612"/>
            <a:ext cx="2096275" cy="2096275"/>
          </a:xfrm>
          <a:prstGeom prst="rect">
            <a:avLst/>
          </a:prstGeom>
          <a:noFill/>
          <a:ln>
            <a:noFill/>
          </a:ln>
        </p:spPr>
      </p:pic>
      <p:sp>
        <p:nvSpPr>
          <p:cNvPr id="77" name="Google Shape;77;p15"/>
          <p:cNvSpPr txBox="1"/>
          <p:nvPr/>
        </p:nvSpPr>
        <p:spPr>
          <a:xfrm>
            <a:off x="29700" y="49475"/>
            <a:ext cx="47397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100" b="1">
                <a:solidFill>
                  <a:srgbClr val="6E2639"/>
                </a:solidFill>
                <a:latin typeface="Antonio"/>
                <a:ea typeface="Antonio"/>
                <a:cs typeface="Antonio"/>
                <a:sym typeface="Antonio"/>
              </a:rPr>
              <a:t>Thank you: Co-Authors! </a:t>
            </a:r>
            <a:endParaRPr sz="3100" b="1">
              <a:solidFill>
                <a:srgbClr val="6E2639"/>
              </a:solidFill>
              <a:latin typeface="Antonio"/>
              <a:ea typeface="Antonio"/>
              <a:cs typeface="Antonio"/>
              <a:sym typeface="Antonio"/>
            </a:endParaRPr>
          </a:p>
        </p:txBody>
      </p:sp>
      <p:pic>
        <p:nvPicPr>
          <p:cNvPr id="78" name="Google Shape;78;p15"/>
          <p:cNvPicPr preferRelativeResize="0"/>
          <p:nvPr/>
        </p:nvPicPr>
        <p:blipFill>
          <a:blip r:embed="rId5">
            <a:alphaModFix/>
          </a:blip>
          <a:stretch>
            <a:fillRect/>
          </a:stretch>
        </p:blipFill>
        <p:spPr>
          <a:xfrm>
            <a:off x="7554025" y="1531611"/>
            <a:ext cx="1500539" cy="2096300"/>
          </a:xfrm>
          <a:prstGeom prst="rect">
            <a:avLst/>
          </a:prstGeom>
          <a:noFill/>
          <a:ln>
            <a:noFill/>
          </a:ln>
          <a:effectLst>
            <a:outerShdw blurRad="100013" dist="47625" dir="5400000" algn="bl" rotWithShape="0">
              <a:srgbClr val="000000">
                <a:alpha val="57000"/>
              </a:srgbClr>
            </a:outerShdw>
          </a:effectLst>
        </p:spPr>
      </p:pic>
      <p:sp>
        <p:nvSpPr>
          <p:cNvPr id="79" name="Google Shape;79;p15"/>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solidFill>
                  <a:schemeClr val="lt1"/>
                </a:solidFill>
              </a:rPr>
              <a:t>2</a:t>
            </a:fld>
            <a:endParaRPr>
              <a:solidFill>
                <a:schemeClr val="lt1"/>
              </a:solidFill>
            </a:endParaRPr>
          </a:p>
        </p:txBody>
      </p:sp>
      <p:pic>
        <p:nvPicPr>
          <p:cNvPr id="80" name="Google Shape;80;p15"/>
          <p:cNvPicPr preferRelativeResize="0"/>
          <p:nvPr/>
        </p:nvPicPr>
        <p:blipFill>
          <a:blip r:embed="rId6">
            <a:alphaModFix/>
          </a:blip>
          <a:stretch>
            <a:fillRect/>
          </a:stretch>
        </p:blipFill>
        <p:spPr>
          <a:xfrm>
            <a:off x="5373400" y="3849614"/>
            <a:ext cx="1057926" cy="181575"/>
          </a:xfrm>
          <a:prstGeom prst="rect">
            <a:avLst/>
          </a:prstGeom>
          <a:noFill/>
          <a:ln>
            <a:noFill/>
          </a:ln>
          <a:effectLst>
            <a:outerShdw blurRad="57150" dist="19050" dir="5400000" algn="bl" rotWithShape="0">
              <a:srgbClr val="000000">
                <a:alpha val="50000"/>
              </a:srgbClr>
            </a:outerShdw>
          </a:effectLst>
        </p:spPr>
      </p:pic>
      <p:pic>
        <p:nvPicPr>
          <p:cNvPr id="81" name="Google Shape;81;p15"/>
          <p:cNvPicPr preferRelativeResize="0"/>
          <p:nvPr/>
        </p:nvPicPr>
        <p:blipFill>
          <a:blip r:embed="rId7">
            <a:alphaModFix/>
          </a:blip>
          <a:stretch>
            <a:fillRect/>
          </a:stretch>
        </p:blipFill>
        <p:spPr>
          <a:xfrm>
            <a:off x="1067598" y="3747497"/>
            <a:ext cx="396203" cy="385800"/>
          </a:xfrm>
          <a:prstGeom prst="rect">
            <a:avLst/>
          </a:prstGeom>
          <a:noFill/>
          <a:ln>
            <a:noFill/>
          </a:ln>
          <a:effectLst>
            <a:outerShdw blurRad="57150" dist="19050" dir="5400000" algn="bl" rotWithShape="0">
              <a:srgbClr val="000000">
                <a:alpha val="50000"/>
              </a:srgbClr>
            </a:outerShdw>
          </a:effectLst>
        </p:spPr>
      </p:pic>
      <p:pic>
        <p:nvPicPr>
          <p:cNvPr id="82" name="Google Shape;82;p15"/>
          <p:cNvPicPr preferRelativeResize="0"/>
          <p:nvPr/>
        </p:nvPicPr>
        <p:blipFill>
          <a:blip r:embed="rId8">
            <a:alphaModFix/>
          </a:blip>
          <a:stretch>
            <a:fillRect/>
          </a:stretch>
        </p:blipFill>
        <p:spPr>
          <a:xfrm>
            <a:off x="2246500" y="1600363"/>
            <a:ext cx="1958825" cy="1958825"/>
          </a:xfrm>
          <a:prstGeom prst="rect">
            <a:avLst/>
          </a:prstGeom>
          <a:noFill/>
          <a:ln>
            <a:noFill/>
          </a:ln>
          <a:effectLst>
            <a:outerShdw blurRad="100013" dist="47625" dir="5400000" algn="bl" rotWithShape="0">
              <a:srgbClr val="000000">
                <a:alpha val="57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6"/>
          <p:cNvSpPr txBox="1">
            <a:spLocks noGrp="1"/>
          </p:cNvSpPr>
          <p:nvPr>
            <p:ph type="title"/>
          </p:nvPr>
        </p:nvSpPr>
        <p:spPr>
          <a:xfrm>
            <a:off x="457200" y="2400308"/>
            <a:ext cx="8229600" cy="914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Problem Landscape</a:t>
            </a:r>
            <a:endParaRPr/>
          </a:p>
        </p:txBody>
      </p:sp>
      <p:sp>
        <p:nvSpPr>
          <p:cNvPr id="88" name="Google Shape;88;p16"/>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solidFill>
                  <a:schemeClr val="lt1"/>
                </a:solidFill>
              </a:rPr>
              <a:t>3</a:t>
            </a:fld>
            <a:endParaRPr>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Unpacking the Title</a:t>
            </a:r>
            <a:endParaRPr/>
          </a:p>
        </p:txBody>
      </p:sp>
      <p:sp>
        <p:nvSpPr>
          <p:cNvPr id="94" name="Google Shape;94;p17"/>
          <p:cNvSpPr txBox="1"/>
          <p:nvPr/>
        </p:nvSpPr>
        <p:spPr>
          <a:xfrm>
            <a:off x="1543775" y="2187000"/>
            <a:ext cx="6125700" cy="1341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800">
                <a:solidFill>
                  <a:schemeClr val="dk2"/>
                </a:solidFill>
                <a:latin typeface="Source Sans Pro"/>
                <a:ea typeface="Source Sans Pro"/>
                <a:cs typeface="Source Sans Pro"/>
                <a:sym typeface="Source Sans Pro"/>
              </a:rPr>
              <a:t>A </a:t>
            </a:r>
            <a:r>
              <a:rPr lang="en" sz="2800" b="1">
                <a:solidFill>
                  <a:srgbClr val="FF0000"/>
                </a:solidFill>
                <a:latin typeface="Source Sans Pro"/>
                <a:ea typeface="Source Sans Pro"/>
                <a:cs typeface="Source Sans Pro"/>
                <a:sym typeface="Source Sans Pro"/>
              </a:rPr>
              <a:t>Domain-Specific</a:t>
            </a:r>
            <a:r>
              <a:rPr lang="en" sz="2800">
                <a:solidFill>
                  <a:schemeClr val="dk2"/>
                </a:solidFill>
                <a:latin typeface="Source Sans Pro"/>
                <a:ea typeface="Source Sans Pro"/>
                <a:cs typeface="Source Sans Pro"/>
                <a:sym typeface="Source Sans Pro"/>
              </a:rPr>
              <a:t> Computer Language for </a:t>
            </a:r>
            <a:r>
              <a:rPr lang="en" sz="2800" b="1">
                <a:solidFill>
                  <a:srgbClr val="FF0000"/>
                </a:solidFill>
                <a:latin typeface="Source Sans Pro"/>
                <a:ea typeface="Source Sans Pro"/>
                <a:cs typeface="Source Sans Pro"/>
                <a:sym typeface="Source Sans Pro"/>
              </a:rPr>
              <a:t>Market Monitoring</a:t>
            </a:r>
            <a:r>
              <a:rPr lang="en" sz="2800">
                <a:solidFill>
                  <a:schemeClr val="dk2"/>
                </a:solidFill>
                <a:latin typeface="Source Sans Pro"/>
                <a:ea typeface="Source Sans Pro"/>
                <a:cs typeface="Source Sans Pro"/>
                <a:sym typeface="Source Sans Pro"/>
              </a:rPr>
              <a:t>: From Domain Logic to </a:t>
            </a:r>
            <a:r>
              <a:rPr lang="en" sz="2800" b="1">
                <a:solidFill>
                  <a:srgbClr val="FF0000"/>
                </a:solidFill>
                <a:latin typeface="Source Sans Pro"/>
                <a:ea typeface="Source Sans Pro"/>
                <a:cs typeface="Source Sans Pro"/>
                <a:sym typeface="Source Sans Pro"/>
              </a:rPr>
              <a:t>SAS Code</a:t>
            </a:r>
            <a:endParaRPr sz="2800" b="1">
              <a:solidFill>
                <a:srgbClr val="FF0000"/>
              </a:solidFill>
              <a:latin typeface="Source Sans Pro"/>
              <a:ea typeface="Source Sans Pro"/>
              <a:cs typeface="Source Sans Pro"/>
              <a:sym typeface="Source Sans Pro"/>
            </a:endParaRPr>
          </a:p>
        </p:txBody>
      </p:sp>
      <p:sp>
        <p:nvSpPr>
          <p:cNvPr id="95" name="Google Shape;95;p17"/>
          <p:cNvSpPr/>
          <p:nvPr/>
        </p:nvSpPr>
        <p:spPr>
          <a:xfrm>
            <a:off x="770400" y="1373600"/>
            <a:ext cx="420600" cy="402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Sans Pro"/>
                <a:ea typeface="Source Sans Pro"/>
                <a:cs typeface="Source Sans Pro"/>
                <a:sym typeface="Source Sans Pro"/>
              </a:rPr>
              <a:t>1</a:t>
            </a:r>
            <a:endParaRPr>
              <a:latin typeface="Source Sans Pro"/>
              <a:ea typeface="Source Sans Pro"/>
              <a:cs typeface="Source Sans Pro"/>
              <a:sym typeface="Source Sans Pro"/>
            </a:endParaRPr>
          </a:p>
        </p:txBody>
      </p:sp>
      <p:sp>
        <p:nvSpPr>
          <p:cNvPr id="96" name="Google Shape;96;p17"/>
          <p:cNvSpPr/>
          <p:nvPr/>
        </p:nvSpPr>
        <p:spPr>
          <a:xfrm>
            <a:off x="1543775" y="3935700"/>
            <a:ext cx="420600" cy="402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Sans Pro"/>
                <a:ea typeface="Source Sans Pro"/>
                <a:cs typeface="Source Sans Pro"/>
                <a:sym typeface="Source Sans Pro"/>
              </a:rPr>
              <a:t>2</a:t>
            </a:r>
            <a:endParaRPr>
              <a:latin typeface="Source Sans Pro"/>
              <a:ea typeface="Source Sans Pro"/>
              <a:cs typeface="Source Sans Pro"/>
              <a:sym typeface="Source Sans Pro"/>
            </a:endParaRPr>
          </a:p>
        </p:txBody>
      </p:sp>
      <p:sp>
        <p:nvSpPr>
          <p:cNvPr id="97" name="Google Shape;97;p17"/>
          <p:cNvSpPr/>
          <p:nvPr/>
        </p:nvSpPr>
        <p:spPr>
          <a:xfrm>
            <a:off x="7248875" y="3935700"/>
            <a:ext cx="420600" cy="4026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Sans Pro"/>
                <a:ea typeface="Source Sans Pro"/>
                <a:cs typeface="Source Sans Pro"/>
                <a:sym typeface="Source Sans Pro"/>
              </a:rPr>
              <a:t>3</a:t>
            </a:r>
            <a:endParaRPr>
              <a:latin typeface="Source Sans Pro"/>
              <a:ea typeface="Source Sans Pro"/>
              <a:cs typeface="Source Sans Pro"/>
              <a:sym typeface="Source Sans Pro"/>
            </a:endParaRPr>
          </a:p>
        </p:txBody>
      </p:sp>
      <p:cxnSp>
        <p:nvCxnSpPr>
          <p:cNvPr id="98" name="Google Shape;98;p17"/>
          <p:cNvCxnSpPr/>
          <p:nvPr/>
        </p:nvCxnSpPr>
        <p:spPr>
          <a:xfrm>
            <a:off x="1253105" y="1732066"/>
            <a:ext cx="1166100" cy="566700"/>
          </a:xfrm>
          <a:prstGeom prst="straightConnector1">
            <a:avLst/>
          </a:prstGeom>
          <a:noFill/>
          <a:ln w="19050" cap="flat" cmpd="sng">
            <a:solidFill>
              <a:schemeClr val="dk2"/>
            </a:solidFill>
            <a:prstDash val="solid"/>
            <a:round/>
            <a:headEnd type="none" w="med" len="med"/>
            <a:tailEnd type="triangle" w="med" len="med"/>
          </a:ln>
        </p:spPr>
      </p:cxnSp>
      <p:cxnSp>
        <p:nvCxnSpPr>
          <p:cNvPr id="99" name="Google Shape;99;p17"/>
          <p:cNvCxnSpPr/>
          <p:nvPr/>
        </p:nvCxnSpPr>
        <p:spPr>
          <a:xfrm rot="10800000" flipH="1">
            <a:off x="2028200" y="3214275"/>
            <a:ext cx="638400" cy="692700"/>
          </a:xfrm>
          <a:prstGeom prst="straightConnector1">
            <a:avLst/>
          </a:prstGeom>
          <a:noFill/>
          <a:ln w="19050" cap="flat" cmpd="sng">
            <a:solidFill>
              <a:schemeClr val="dk2"/>
            </a:solidFill>
            <a:prstDash val="solid"/>
            <a:round/>
            <a:headEnd type="none" w="med" len="med"/>
            <a:tailEnd type="triangle" w="med" len="med"/>
          </a:ln>
        </p:spPr>
      </p:cxnSp>
      <p:cxnSp>
        <p:nvCxnSpPr>
          <p:cNvPr id="100" name="Google Shape;100;p17"/>
          <p:cNvCxnSpPr/>
          <p:nvPr/>
        </p:nvCxnSpPr>
        <p:spPr>
          <a:xfrm rot="10800000">
            <a:off x="6105425" y="3466700"/>
            <a:ext cx="1073700" cy="514500"/>
          </a:xfrm>
          <a:prstGeom prst="straightConnector1">
            <a:avLst/>
          </a:prstGeom>
          <a:noFill/>
          <a:ln w="19050" cap="flat" cmpd="sng">
            <a:solidFill>
              <a:schemeClr val="dk2"/>
            </a:solidFill>
            <a:prstDash val="solid"/>
            <a:round/>
            <a:headEnd type="none" w="med" len="med"/>
            <a:tailEnd type="triangle" w="med" len="med"/>
          </a:ln>
        </p:spPr>
      </p:cxnSp>
      <p:sp>
        <p:nvSpPr>
          <p:cNvPr id="101" name="Google Shape;101;p17"/>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4</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8"/>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Domain-Specific Languages</a:t>
            </a:r>
            <a:endParaRPr/>
          </a:p>
        </p:txBody>
      </p:sp>
      <p:sp>
        <p:nvSpPr>
          <p:cNvPr id="107" name="Google Shape;107;p18"/>
          <p:cNvSpPr txBox="1">
            <a:spLocks noGrp="1"/>
          </p:cNvSpPr>
          <p:nvPr>
            <p:ph type="body" idx="1"/>
          </p:nvPr>
        </p:nvSpPr>
        <p:spPr>
          <a:xfrm>
            <a:off x="353275" y="1232063"/>
            <a:ext cx="8229600" cy="39249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A class of programming languages that are distinct from </a:t>
            </a:r>
            <a:r>
              <a:rPr lang="en" i="1"/>
              <a:t>general purpose programming languages </a:t>
            </a:r>
            <a:r>
              <a:rPr lang="en"/>
              <a:t>(GPLs). Domain-specific languages (DSLs) are programming languages that are: </a:t>
            </a:r>
            <a:endParaRPr/>
          </a:p>
          <a:p>
            <a:pPr marL="457200" lvl="0" indent="-342900" algn="l" rtl="0">
              <a:spcBef>
                <a:spcPts val="1200"/>
              </a:spcBef>
              <a:spcAft>
                <a:spcPts val="0"/>
              </a:spcAft>
              <a:buSzPts val="1800"/>
              <a:buAutoNum type="arabicPeriod"/>
            </a:pPr>
            <a:r>
              <a:rPr lang="en"/>
              <a:t>Narrow in scope</a:t>
            </a:r>
            <a:endParaRPr/>
          </a:p>
          <a:p>
            <a:pPr marL="457200" lvl="0" indent="-342900" algn="l" rtl="0">
              <a:spcBef>
                <a:spcPts val="0"/>
              </a:spcBef>
              <a:spcAft>
                <a:spcPts val="0"/>
              </a:spcAft>
              <a:buSzPts val="1800"/>
              <a:buAutoNum type="arabicPeriod"/>
            </a:pPr>
            <a:r>
              <a:rPr lang="en"/>
              <a:t>High-level (abstract)</a:t>
            </a:r>
            <a:endParaRPr/>
          </a:p>
          <a:p>
            <a:pPr marL="457200" lvl="0" indent="-342900" algn="l" rtl="0">
              <a:spcBef>
                <a:spcPts val="0"/>
              </a:spcBef>
              <a:spcAft>
                <a:spcPts val="0"/>
              </a:spcAft>
              <a:buSzPts val="1800"/>
              <a:buAutoNum type="arabicPeriod"/>
            </a:pPr>
            <a:r>
              <a:rPr lang="en"/>
              <a:t>Typically intended for </a:t>
            </a:r>
            <a:r>
              <a:rPr lang="en" b="1"/>
              <a:t>non-developers</a:t>
            </a:r>
            <a:endParaRPr/>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
        <p:nvSpPr>
          <p:cNvPr id="108" name="Google Shape;108;p18"/>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5</a:t>
            </a:fld>
            <a:endParaRPr/>
          </a:p>
        </p:txBody>
      </p:sp>
      <p:pic>
        <p:nvPicPr>
          <p:cNvPr id="109" name="Google Shape;109;p18"/>
          <p:cNvPicPr preferRelativeResize="0"/>
          <p:nvPr/>
        </p:nvPicPr>
        <p:blipFill>
          <a:blip r:embed="rId3">
            <a:alphaModFix/>
          </a:blip>
          <a:stretch>
            <a:fillRect/>
          </a:stretch>
        </p:blipFill>
        <p:spPr>
          <a:xfrm>
            <a:off x="7740320" y="2531820"/>
            <a:ext cx="667675" cy="667675"/>
          </a:xfrm>
          <a:prstGeom prst="rect">
            <a:avLst/>
          </a:prstGeom>
          <a:noFill/>
          <a:ln>
            <a:noFill/>
          </a:ln>
        </p:spPr>
      </p:pic>
      <p:pic>
        <p:nvPicPr>
          <p:cNvPr id="110" name="Google Shape;110;p18"/>
          <p:cNvPicPr preferRelativeResize="0"/>
          <p:nvPr/>
        </p:nvPicPr>
        <p:blipFill>
          <a:blip r:embed="rId4">
            <a:alphaModFix/>
          </a:blip>
          <a:stretch>
            <a:fillRect/>
          </a:stretch>
        </p:blipFill>
        <p:spPr>
          <a:xfrm>
            <a:off x="6820114" y="3649725"/>
            <a:ext cx="556476" cy="904499"/>
          </a:xfrm>
          <a:prstGeom prst="rect">
            <a:avLst/>
          </a:prstGeom>
          <a:noFill/>
          <a:ln>
            <a:noFill/>
          </a:ln>
        </p:spPr>
      </p:pic>
      <p:pic>
        <p:nvPicPr>
          <p:cNvPr id="111" name="Google Shape;111;p18"/>
          <p:cNvPicPr preferRelativeResize="0"/>
          <p:nvPr/>
        </p:nvPicPr>
        <p:blipFill>
          <a:blip r:embed="rId5">
            <a:alphaModFix/>
          </a:blip>
          <a:stretch>
            <a:fillRect/>
          </a:stretch>
        </p:blipFill>
        <p:spPr>
          <a:xfrm>
            <a:off x="6862386" y="2804575"/>
            <a:ext cx="1184288" cy="1047000"/>
          </a:xfrm>
          <a:prstGeom prst="rect">
            <a:avLst/>
          </a:prstGeom>
          <a:noFill/>
          <a:ln>
            <a:noFill/>
          </a:ln>
        </p:spPr>
      </p:pic>
      <p:pic>
        <p:nvPicPr>
          <p:cNvPr id="112" name="Google Shape;112;p18"/>
          <p:cNvPicPr preferRelativeResize="0"/>
          <p:nvPr/>
        </p:nvPicPr>
        <p:blipFill>
          <a:blip r:embed="rId6">
            <a:alphaModFix/>
          </a:blip>
          <a:stretch>
            <a:fillRect/>
          </a:stretch>
        </p:blipFill>
        <p:spPr>
          <a:xfrm>
            <a:off x="7482751" y="3616576"/>
            <a:ext cx="667674" cy="667674"/>
          </a:xfrm>
          <a:prstGeom prst="rect">
            <a:avLst/>
          </a:prstGeom>
          <a:noFill/>
          <a:ln>
            <a:noFill/>
          </a:ln>
        </p:spPr>
      </p:pic>
      <p:pic>
        <p:nvPicPr>
          <p:cNvPr id="113" name="Google Shape;113;p18"/>
          <p:cNvPicPr preferRelativeResize="0"/>
          <p:nvPr/>
        </p:nvPicPr>
        <p:blipFill>
          <a:blip r:embed="rId7">
            <a:alphaModFix/>
          </a:blip>
          <a:stretch>
            <a:fillRect/>
          </a:stretch>
        </p:blipFill>
        <p:spPr>
          <a:xfrm>
            <a:off x="7495250" y="4309850"/>
            <a:ext cx="556477" cy="556477"/>
          </a:xfrm>
          <a:prstGeom prst="rect">
            <a:avLst/>
          </a:prstGeom>
          <a:noFill/>
          <a:ln>
            <a:noFill/>
          </a:ln>
        </p:spPr>
      </p:pic>
      <p:pic>
        <p:nvPicPr>
          <p:cNvPr id="114" name="Google Shape;114;p18"/>
          <p:cNvPicPr preferRelativeResize="0"/>
          <p:nvPr/>
        </p:nvPicPr>
        <p:blipFill>
          <a:blip r:embed="rId8">
            <a:alphaModFix/>
          </a:blip>
          <a:stretch>
            <a:fillRect/>
          </a:stretch>
        </p:blipFill>
        <p:spPr>
          <a:xfrm>
            <a:off x="8170366" y="4118776"/>
            <a:ext cx="718034" cy="556475"/>
          </a:xfrm>
          <a:prstGeom prst="rect">
            <a:avLst/>
          </a:prstGeom>
          <a:noFill/>
          <a:ln>
            <a:noFill/>
          </a:ln>
        </p:spPr>
      </p:pic>
      <p:pic>
        <p:nvPicPr>
          <p:cNvPr id="115" name="Google Shape;115;p18"/>
          <p:cNvPicPr preferRelativeResize="0"/>
          <p:nvPr/>
        </p:nvPicPr>
        <p:blipFill>
          <a:blip r:embed="rId9">
            <a:alphaModFix/>
          </a:blip>
          <a:stretch>
            <a:fillRect/>
          </a:stretch>
        </p:blipFill>
        <p:spPr>
          <a:xfrm>
            <a:off x="7015226" y="2483675"/>
            <a:ext cx="1059502" cy="595976"/>
          </a:xfrm>
          <a:prstGeom prst="rect">
            <a:avLst/>
          </a:prstGeom>
          <a:noFill/>
          <a:ln>
            <a:noFill/>
          </a:ln>
        </p:spPr>
      </p:pic>
      <p:pic>
        <p:nvPicPr>
          <p:cNvPr id="116" name="Google Shape;116;p18"/>
          <p:cNvPicPr preferRelativeResize="0"/>
          <p:nvPr/>
        </p:nvPicPr>
        <p:blipFill>
          <a:blip r:embed="rId10">
            <a:alphaModFix/>
          </a:blip>
          <a:stretch>
            <a:fillRect/>
          </a:stretch>
        </p:blipFill>
        <p:spPr>
          <a:xfrm>
            <a:off x="8074726" y="3199500"/>
            <a:ext cx="639687" cy="719125"/>
          </a:xfrm>
          <a:prstGeom prst="rect">
            <a:avLst/>
          </a:prstGeom>
          <a:noFill/>
          <a:ln>
            <a:noFill/>
          </a:ln>
        </p:spPr>
      </p:pic>
      <p:sp>
        <p:nvSpPr>
          <p:cNvPr id="117" name="Google Shape;117;p18"/>
          <p:cNvSpPr/>
          <p:nvPr/>
        </p:nvSpPr>
        <p:spPr>
          <a:xfrm>
            <a:off x="538850" y="4891925"/>
            <a:ext cx="8124900" cy="157200"/>
          </a:xfrm>
          <a:prstGeom prst="lef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pic>
        <p:nvPicPr>
          <p:cNvPr id="118" name="Google Shape;118;p18"/>
          <p:cNvPicPr preferRelativeResize="0"/>
          <p:nvPr/>
        </p:nvPicPr>
        <p:blipFill>
          <a:blip r:embed="rId11">
            <a:alphaModFix/>
          </a:blip>
          <a:stretch>
            <a:fillRect/>
          </a:stretch>
        </p:blipFill>
        <p:spPr>
          <a:xfrm>
            <a:off x="3821788" y="4195231"/>
            <a:ext cx="1282324" cy="961743"/>
          </a:xfrm>
          <a:prstGeom prst="rect">
            <a:avLst/>
          </a:prstGeom>
          <a:noFill/>
          <a:ln>
            <a:noFill/>
          </a:ln>
        </p:spPr>
      </p:pic>
      <p:pic>
        <p:nvPicPr>
          <p:cNvPr id="119" name="Google Shape;119;p18"/>
          <p:cNvPicPr preferRelativeResize="0"/>
          <p:nvPr/>
        </p:nvPicPr>
        <p:blipFill>
          <a:blip r:embed="rId12">
            <a:alphaModFix/>
          </a:blip>
          <a:stretch>
            <a:fillRect/>
          </a:stretch>
        </p:blipFill>
        <p:spPr>
          <a:xfrm>
            <a:off x="1265472" y="3476413"/>
            <a:ext cx="969175" cy="484588"/>
          </a:xfrm>
          <a:prstGeom prst="rect">
            <a:avLst/>
          </a:prstGeom>
          <a:noFill/>
          <a:ln>
            <a:noFill/>
          </a:ln>
        </p:spPr>
      </p:pic>
      <p:sp>
        <p:nvSpPr>
          <p:cNvPr id="120" name="Google Shape;120;p18"/>
          <p:cNvSpPr txBox="1"/>
          <p:nvPr/>
        </p:nvSpPr>
        <p:spPr>
          <a:xfrm>
            <a:off x="7968888" y="4891913"/>
            <a:ext cx="717900" cy="2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Source Sans Pro"/>
                <a:ea typeface="Source Sans Pro"/>
                <a:cs typeface="Source Sans Pro"/>
                <a:sym typeface="Source Sans Pro"/>
              </a:rPr>
              <a:t>GPLs</a:t>
            </a:r>
            <a:endParaRPr sz="1800">
              <a:solidFill>
                <a:schemeClr val="dk2"/>
              </a:solidFill>
              <a:latin typeface="Source Sans Pro"/>
              <a:ea typeface="Source Sans Pro"/>
              <a:cs typeface="Source Sans Pro"/>
              <a:sym typeface="Source Sans Pro"/>
            </a:endParaRPr>
          </a:p>
        </p:txBody>
      </p:sp>
      <p:sp>
        <p:nvSpPr>
          <p:cNvPr id="121" name="Google Shape;121;p18"/>
          <p:cNvSpPr txBox="1"/>
          <p:nvPr/>
        </p:nvSpPr>
        <p:spPr>
          <a:xfrm>
            <a:off x="712750" y="4922975"/>
            <a:ext cx="717900" cy="95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a:solidFill>
                  <a:schemeClr val="dk2"/>
                </a:solidFill>
                <a:latin typeface="Source Sans Pro"/>
                <a:ea typeface="Source Sans Pro"/>
                <a:cs typeface="Source Sans Pro"/>
                <a:sym typeface="Source Sans Pro"/>
              </a:rPr>
              <a:t>DSLs</a:t>
            </a:r>
            <a:endParaRPr sz="1800">
              <a:solidFill>
                <a:schemeClr val="dk2"/>
              </a:solidFill>
              <a:latin typeface="Source Sans Pro"/>
              <a:ea typeface="Source Sans Pro"/>
              <a:cs typeface="Source Sans Pro"/>
              <a:sym typeface="Source Sans Pro"/>
            </a:endParaRPr>
          </a:p>
        </p:txBody>
      </p:sp>
      <p:pic>
        <p:nvPicPr>
          <p:cNvPr id="122" name="Google Shape;122;p18"/>
          <p:cNvPicPr preferRelativeResize="0"/>
          <p:nvPr/>
        </p:nvPicPr>
        <p:blipFill>
          <a:blip r:embed="rId13">
            <a:alphaModFix/>
          </a:blip>
          <a:stretch>
            <a:fillRect/>
          </a:stretch>
        </p:blipFill>
        <p:spPr>
          <a:xfrm>
            <a:off x="538861" y="4066523"/>
            <a:ext cx="761275" cy="366800"/>
          </a:xfrm>
          <a:prstGeom prst="rect">
            <a:avLst/>
          </a:prstGeom>
          <a:noFill/>
          <a:ln>
            <a:noFill/>
          </a:ln>
        </p:spPr>
      </p:pic>
      <p:pic>
        <p:nvPicPr>
          <p:cNvPr id="123" name="Google Shape;123;p18"/>
          <p:cNvPicPr preferRelativeResize="0"/>
          <p:nvPr/>
        </p:nvPicPr>
        <p:blipFill>
          <a:blip r:embed="rId14">
            <a:alphaModFix/>
          </a:blip>
          <a:stretch>
            <a:fillRect/>
          </a:stretch>
        </p:blipFill>
        <p:spPr>
          <a:xfrm>
            <a:off x="1391800" y="3982853"/>
            <a:ext cx="667674" cy="534147"/>
          </a:xfrm>
          <a:prstGeom prst="rect">
            <a:avLst/>
          </a:prstGeom>
          <a:noFill/>
          <a:ln>
            <a:noFill/>
          </a:ln>
        </p:spPr>
      </p:pic>
      <p:sp>
        <p:nvSpPr>
          <p:cNvPr id="124" name="Google Shape;124;p18"/>
          <p:cNvSpPr txBox="1"/>
          <p:nvPr/>
        </p:nvSpPr>
        <p:spPr>
          <a:xfrm>
            <a:off x="457200" y="4433325"/>
            <a:ext cx="2008800" cy="366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i="1">
                <a:solidFill>
                  <a:schemeClr val="dk2"/>
                </a:solidFill>
                <a:latin typeface="Source Sans Pro"/>
                <a:ea typeface="Source Sans Pro"/>
                <a:cs typeface="Source Sans Pro"/>
                <a:sym typeface="Source Sans Pro"/>
              </a:rPr>
              <a:t>(Basically anything)</a:t>
            </a:r>
            <a:r>
              <a:rPr lang="en" sz="1800">
                <a:solidFill>
                  <a:schemeClr val="dk2"/>
                </a:solidFill>
                <a:latin typeface="Source Sans Pro"/>
                <a:ea typeface="Source Sans Pro"/>
                <a:cs typeface="Source Sans Pro"/>
                <a:sym typeface="Source Sans Pro"/>
              </a:rPr>
              <a:t>QL</a:t>
            </a:r>
            <a:endParaRPr sz="1800">
              <a:solidFill>
                <a:schemeClr val="dk2"/>
              </a:solidFill>
              <a:latin typeface="Source Sans Pro"/>
              <a:ea typeface="Source Sans Pro"/>
              <a:cs typeface="Source Sans Pro"/>
              <a:sym typeface="Source Sans Pro"/>
            </a:endParaRPr>
          </a:p>
        </p:txBody>
      </p:sp>
      <p:pic>
        <p:nvPicPr>
          <p:cNvPr id="125" name="Google Shape;125;p18"/>
          <p:cNvPicPr preferRelativeResize="0"/>
          <p:nvPr/>
        </p:nvPicPr>
        <p:blipFill>
          <a:blip r:embed="rId15">
            <a:alphaModFix/>
          </a:blip>
          <a:stretch>
            <a:fillRect/>
          </a:stretch>
        </p:blipFill>
        <p:spPr>
          <a:xfrm>
            <a:off x="550799" y="3632859"/>
            <a:ext cx="667675" cy="408266"/>
          </a:xfrm>
          <a:prstGeom prst="rect">
            <a:avLst/>
          </a:prstGeom>
          <a:noFill/>
          <a:ln>
            <a:noFill/>
          </a:ln>
        </p:spPr>
      </p:pic>
      <p:sp>
        <p:nvSpPr>
          <p:cNvPr id="126" name="Google Shape;126;p18"/>
          <p:cNvSpPr txBox="1"/>
          <p:nvPr/>
        </p:nvSpPr>
        <p:spPr>
          <a:xfrm>
            <a:off x="4109125" y="4958224"/>
            <a:ext cx="717900" cy="95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1800">
                <a:solidFill>
                  <a:schemeClr val="dk2"/>
                </a:solidFill>
                <a:latin typeface="Source Sans Pro"/>
                <a:ea typeface="Source Sans Pro"/>
                <a:cs typeface="Source Sans Pro"/>
                <a:sym typeface="Source Sans Pro"/>
              </a:rPr>
              <a:t>?</a:t>
            </a:r>
            <a:endParaRPr sz="1800">
              <a:solidFill>
                <a:schemeClr val="dk2"/>
              </a:solidFill>
              <a:latin typeface="Source Sans Pro"/>
              <a:ea typeface="Source Sans Pro"/>
              <a:cs typeface="Source Sans Pro"/>
              <a:sym typeface="Source Sans Pr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9"/>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Market Monitoring</a:t>
            </a:r>
            <a:endParaRPr/>
          </a:p>
        </p:txBody>
      </p:sp>
      <p:sp>
        <p:nvSpPr>
          <p:cNvPr id="132" name="Google Shape;132;p19"/>
          <p:cNvSpPr txBox="1">
            <a:spLocks noGrp="1"/>
          </p:cNvSpPr>
          <p:nvPr>
            <p:ph type="body" idx="1"/>
          </p:nvPr>
        </p:nvSpPr>
        <p:spPr>
          <a:xfrm>
            <a:off x="457200" y="1354675"/>
            <a:ext cx="5892300" cy="3674400"/>
          </a:xfrm>
          <a:prstGeom prst="rect">
            <a:avLst/>
          </a:prstGeom>
        </p:spPr>
        <p:txBody>
          <a:bodyPr spcFirstLastPara="1" wrap="square" lIns="0" tIns="0" rIns="0" bIns="0" anchor="t" anchorCtr="0">
            <a:noAutofit/>
          </a:bodyPr>
          <a:lstStyle/>
          <a:p>
            <a:pPr marL="457200" lvl="0" indent="-330200" algn="l" rtl="0">
              <a:lnSpc>
                <a:spcPct val="150000"/>
              </a:lnSpc>
              <a:spcBef>
                <a:spcPts val="0"/>
              </a:spcBef>
              <a:spcAft>
                <a:spcPts val="0"/>
              </a:spcAft>
              <a:buSzPts val="1600"/>
              <a:buChar char="●"/>
            </a:pPr>
            <a:r>
              <a:rPr lang="en" sz="1600" dirty="0"/>
              <a:t>Oversight organizations that provide market surveillance and policy analysis services to ensure that </a:t>
            </a:r>
            <a:r>
              <a:rPr lang="en" sz="1600" b="1" dirty="0"/>
              <a:t>organized, wholesale, electric markets remain fair and competitive</a:t>
            </a:r>
            <a:endParaRPr sz="1400" dirty="0"/>
          </a:p>
          <a:p>
            <a:pPr marL="457200" lvl="0" indent="-330200" algn="l" rtl="0">
              <a:lnSpc>
                <a:spcPct val="150000"/>
              </a:lnSpc>
              <a:spcBef>
                <a:spcPts val="0"/>
              </a:spcBef>
              <a:spcAft>
                <a:spcPts val="0"/>
              </a:spcAft>
              <a:buSzPts val="1600"/>
              <a:buChar char="●"/>
            </a:pPr>
            <a:r>
              <a:rPr lang="en" sz="1600" dirty="0"/>
              <a:t>Required for all organized electric markets within the United States</a:t>
            </a:r>
            <a:r>
              <a:rPr lang="en" sz="1600" b="1" baseline="30000" dirty="0"/>
              <a:t>1</a:t>
            </a:r>
            <a:r>
              <a:rPr lang="en" sz="1600" dirty="0"/>
              <a:t>, but also exist outside of the US (APAC, EMEA, etc.)</a:t>
            </a:r>
            <a:endParaRPr sz="1400" dirty="0"/>
          </a:p>
          <a:p>
            <a:pPr marL="457200" lvl="0" indent="-330200" algn="l" rtl="0">
              <a:lnSpc>
                <a:spcPct val="150000"/>
              </a:lnSpc>
              <a:spcBef>
                <a:spcPts val="0"/>
              </a:spcBef>
              <a:spcAft>
                <a:spcPts val="0"/>
              </a:spcAft>
              <a:buSzPts val="1600"/>
              <a:buChar char="●"/>
            </a:pPr>
            <a:r>
              <a:rPr lang="en" sz="1600" dirty="0"/>
              <a:t>In the US, market monitors fall under the jurisdiction of the Federal Energy Regulatory Commission (FERC)</a:t>
            </a:r>
          </a:p>
          <a:p>
            <a:pPr marL="457200" lvl="0" indent="-330200" algn="l" rtl="0">
              <a:lnSpc>
                <a:spcPct val="150000"/>
              </a:lnSpc>
              <a:spcBef>
                <a:spcPts val="0"/>
              </a:spcBef>
              <a:spcAft>
                <a:spcPts val="0"/>
              </a:spcAft>
              <a:buSzPts val="1600"/>
              <a:buChar char="●"/>
            </a:pPr>
            <a:r>
              <a:rPr lang="en" sz="1600" dirty="0"/>
              <a:t>The downfall of Enron Corporation brought the need for market monitoring into the public eye</a:t>
            </a:r>
            <a:endParaRPr sz="1600" dirty="0"/>
          </a:p>
        </p:txBody>
      </p:sp>
      <p:sp>
        <p:nvSpPr>
          <p:cNvPr id="133" name="Google Shape;133;p19"/>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6</a:t>
            </a:fld>
            <a:endParaRPr/>
          </a:p>
        </p:txBody>
      </p:sp>
      <p:sp>
        <p:nvSpPr>
          <p:cNvPr id="134" name="Google Shape;134;p19"/>
          <p:cNvSpPr txBox="1"/>
          <p:nvPr/>
        </p:nvSpPr>
        <p:spPr>
          <a:xfrm>
            <a:off x="4342875" y="5376325"/>
            <a:ext cx="5571600" cy="2808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900" baseline="30000"/>
              <a:t>1</a:t>
            </a:r>
            <a:r>
              <a:rPr lang="en" sz="900"/>
              <a:t>https://</a:t>
            </a:r>
            <a:r>
              <a:rPr lang="en" sz="900" u="sng">
                <a:solidFill>
                  <a:schemeClr val="hlink"/>
                </a:solidFill>
                <a:hlinkClick r:id="rId3"/>
              </a:rPr>
              <a:t>www.ecfr.gov/current/title-18/chapter-I/subchapter-A/part-1c</a:t>
            </a:r>
            <a:endParaRPr sz="900"/>
          </a:p>
        </p:txBody>
      </p:sp>
      <p:pic>
        <p:nvPicPr>
          <p:cNvPr id="135" name="Google Shape;135;p19"/>
          <p:cNvPicPr preferRelativeResize="0"/>
          <p:nvPr/>
        </p:nvPicPr>
        <p:blipFill>
          <a:blip r:embed="rId4">
            <a:alphaModFix/>
          </a:blip>
          <a:stretch>
            <a:fillRect/>
          </a:stretch>
        </p:blipFill>
        <p:spPr>
          <a:xfrm>
            <a:off x="6511150" y="1844746"/>
            <a:ext cx="2025500" cy="20255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0"/>
          <p:cNvSpPr txBox="1">
            <a:spLocks noGrp="1"/>
          </p:cNvSpPr>
          <p:nvPr>
            <p:ph type="title"/>
          </p:nvPr>
        </p:nvSpPr>
        <p:spPr>
          <a:xfrm>
            <a:off x="457200" y="42615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So What is a Wholesale Electricity Market?</a:t>
            </a:r>
            <a:endParaRPr/>
          </a:p>
        </p:txBody>
      </p:sp>
      <p:sp>
        <p:nvSpPr>
          <p:cNvPr id="141" name="Google Shape;141;p20"/>
          <p:cNvSpPr txBox="1">
            <a:spLocks noGrp="1"/>
          </p:cNvSpPr>
          <p:nvPr>
            <p:ph type="body" idx="1"/>
          </p:nvPr>
        </p:nvSpPr>
        <p:spPr>
          <a:xfrm>
            <a:off x="353275" y="918352"/>
            <a:ext cx="8229600" cy="9420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A highly connected system that optimizes the price of bulk electricity subject to system constraints. Wholesale electricity prices, in the US, are both </a:t>
            </a:r>
            <a:r>
              <a:rPr lang="en" b="1"/>
              <a:t>marginal </a:t>
            </a:r>
            <a:r>
              <a:rPr lang="en"/>
              <a:t>and </a:t>
            </a:r>
            <a:r>
              <a:rPr lang="en" b="1"/>
              <a:t>location-dependent (spatial).</a:t>
            </a:r>
            <a:endParaRPr b="1"/>
          </a:p>
          <a:p>
            <a:pPr marL="0" lvl="0" indent="0" algn="l" rtl="0">
              <a:spcBef>
                <a:spcPts val="1200"/>
              </a:spcBef>
              <a:spcAft>
                <a:spcPts val="0"/>
              </a:spcAft>
              <a:buNone/>
            </a:pP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
        <p:nvSpPr>
          <p:cNvPr id="142" name="Google Shape;142;p20"/>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7</a:t>
            </a:fld>
            <a:endParaRPr/>
          </a:p>
        </p:txBody>
      </p:sp>
      <p:pic>
        <p:nvPicPr>
          <p:cNvPr id="143" name="Google Shape;143;p20"/>
          <p:cNvPicPr preferRelativeResize="0"/>
          <p:nvPr/>
        </p:nvPicPr>
        <p:blipFill>
          <a:blip r:embed="rId3">
            <a:alphaModFix/>
          </a:blip>
          <a:stretch>
            <a:fillRect/>
          </a:stretch>
        </p:blipFill>
        <p:spPr>
          <a:xfrm>
            <a:off x="1653561" y="2076500"/>
            <a:ext cx="428325" cy="601200"/>
          </a:xfrm>
          <a:prstGeom prst="rect">
            <a:avLst/>
          </a:prstGeom>
          <a:noFill/>
          <a:ln>
            <a:noFill/>
          </a:ln>
          <a:effectLst>
            <a:outerShdw blurRad="57150" dist="19050" dir="5400000" algn="bl" rotWithShape="0">
              <a:srgbClr val="000000">
                <a:alpha val="50000"/>
              </a:srgbClr>
            </a:outerShdw>
          </a:effectLst>
        </p:spPr>
      </p:pic>
      <p:pic>
        <p:nvPicPr>
          <p:cNvPr id="144" name="Google Shape;144;p20"/>
          <p:cNvPicPr preferRelativeResize="0"/>
          <p:nvPr/>
        </p:nvPicPr>
        <p:blipFill>
          <a:blip r:embed="rId3">
            <a:alphaModFix/>
          </a:blip>
          <a:stretch>
            <a:fillRect/>
          </a:stretch>
        </p:blipFill>
        <p:spPr>
          <a:xfrm>
            <a:off x="1653486" y="2787025"/>
            <a:ext cx="428325" cy="601200"/>
          </a:xfrm>
          <a:prstGeom prst="rect">
            <a:avLst/>
          </a:prstGeom>
          <a:noFill/>
          <a:ln>
            <a:noFill/>
          </a:ln>
          <a:effectLst>
            <a:outerShdw blurRad="57150" dist="19050" dir="5400000" algn="bl" rotWithShape="0">
              <a:srgbClr val="000000">
                <a:alpha val="50000"/>
              </a:srgbClr>
            </a:outerShdw>
          </a:effectLst>
        </p:spPr>
      </p:pic>
      <p:pic>
        <p:nvPicPr>
          <p:cNvPr id="145" name="Google Shape;145;p20"/>
          <p:cNvPicPr preferRelativeResize="0"/>
          <p:nvPr/>
        </p:nvPicPr>
        <p:blipFill>
          <a:blip r:embed="rId3">
            <a:alphaModFix/>
          </a:blip>
          <a:stretch>
            <a:fillRect/>
          </a:stretch>
        </p:blipFill>
        <p:spPr>
          <a:xfrm>
            <a:off x="1653561" y="3497550"/>
            <a:ext cx="428325" cy="601200"/>
          </a:xfrm>
          <a:prstGeom prst="rect">
            <a:avLst/>
          </a:prstGeom>
          <a:noFill/>
          <a:ln>
            <a:noFill/>
          </a:ln>
          <a:effectLst>
            <a:outerShdw blurRad="57150" dist="19050" dir="5400000" algn="bl" rotWithShape="0">
              <a:srgbClr val="000000">
                <a:alpha val="50000"/>
              </a:srgbClr>
            </a:outerShdw>
          </a:effectLst>
        </p:spPr>
      </p:pic>
      <p:sp>
        <p:nvSpPr>
          <p:cNvPr id="146" name="Google Shape;146;p20"/>
          <p:cNvSpPr/>
          <p:nvPr/>
        </p:nvSpPr>
        <p:spPr>
          <a:xfrm>
            <a:off x="3699880" y="2787025"/>
            <a:ext cx="1311900" cy="601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Sans Pro"/>
                <a:ea typeface="Source Sans Pro"/>
                <a:cs typeface="Source Sans Pro"/>
                <a:sym typeface="Source Sans Pro"/>
              </a:rPr>
              <a:t>Market System</a:t>
            </a:r>
            <a:endParaRPr>
              <a:latin typeface="Source Sans Pro"/>
              <a:ea typeface="Source Sans Pro"/>
              <a:cs typeface="Source Sans Pro"/>
              <a:sym typeface="Source Sans Pro"/>
            </a:endParaRPr>
          </a:p>
        </p:txBody>
      </p:sp>
      <p:cxnSp>
        <p:nvCxnSpPr>
          <p:cNvPr id="147" name="Google Shape;147;p20"/>
          <p:cNvCxnSpPr>
            <a:stCxn id="143" idx="3"/>
            <a:endCxn id="146" idx="1"/>
          </p:cNvCxnSpPr>
          <p:nvPr/>
        </p:nvCxnSpPr>
        <p:spPr>
          <a:xfrm>
            <a:off x="2081886" y="2377100"/>
            <a:ext cx="1617900" cy="710400"/>
          </a:xfrm>
          <a:prstGeom prst="straightConnector1">
            <a:avLst/>
          </a:prstGeom>
          <a:noFill/>
          <a:ln w="9525" cap="flat" cmpd="sng">
            <a:solidFill>
              <a:schemeClr val="dk2"/>
            </a:solidFill>
            <a:prstDash val="solid"/>
            <a:round/>
            <a:headEnd type="none" w="med" len="med"/>
            <a:tailEnd type="triangle" w="med" len="med"/>
          </a:ln>
        </p:spPr>
      </p:cxnSp>
      <p:cxnSp>
        <p:nvCxnSpPr>
          <p:cNvPr id="148" name="Google Shape;148;p20"/>
          <p:cNvCxnSpPr>
            <a:stCxn id="144" idx="3"/>
            <a:endCxn id="146" idx="1"/>
          </p:cNvCxnSpPr>
          <p:nvPr/>
        </p:nvCxnSpPr>
        <p:spPr>
          <a:xfrm>
            <a:off x="2081811" y="3087625"/>
            <a:ext cx="1618200" cy="0"/>
          </a:xfrm>
          <a:prstGeom prst="straightConnector1">
            <a:avLst/>
          </a:prstGeom>
          <a:noFill/>
          <a:ln w="9525" cap="flat" cmpd="sng">
            <a:solidFill>
              <a:schemeClr val="dk2"/>
            </a:solidFill>
            <a:prstDash val="solid"/>
            <a:round/>
            <a:headEnd type="none" w="med" len="med"/>
            <a:tailEnd type="triangle" w="med" len="med"/>
          </a:ln>
        </p:spPr>
      </p:cxnSp>
      <p:cxnSp>
        <p:nvCxnSpPr>
          <p:cNvPr id="149" name="Google Shape;149;p20"/>
          <p:cNvCxnSpPr>
            <a:stCxn id="145" idx="3"/>
            <a:endCxn id="146" idx="1"/>
          </p:cNvCxnSpPr>
          <p:nvPr/>
        </p:nvCxnSpPr>
        <p:spPr>
          <a:xfrm rot="10800000" flipH="1">
            <a:off x="2081886" y="3087750"/>
            <a:ext cx="1617900" cy="710400"/>
          </a:xfrm>
          <a:prstGeom prst="straightConnector1">
            <a:avLst/>
          </a:prstGeom>
          <a:noFill/>
          <a:ln w="9525" cap="flat" cmpd="sng">
            <a:solidFill>
              <a:schemeClr val="dk2"/>
            </a:solidFill>
            <a:prstDash val="solid"/>
            <a:round/>
            <a:headEnd type="none" w="med" len="med"/>
            <a:tailEnd type="triangle" w="med" len="med"/>
          </a:ln>
        </p:spPr>
      </p:cxnSp>
      <p:cxnSp>
        <p:nvCxnSpPr>
          <p:cNvPr id="150" name="Google Shape;150;p20"/>
          <p:cNvCxnSpPr>
            <a:stCxn id="151" idx="0"/>
            <a:endCxn id="146" idx="3"/>
          </p:cNvCxnSpPr>
          <p:nvPr/>
        </p:nvCxnSpPr>
        <p:spPr>
          <a:xfrm flipH="1">
            <a:off x="5011780" y="2742925"/>
            <a:ext cx="2057700" cy="344700"/>
          </a:xfrm>
          <a:prstGeom prst="straightConnector1">
            <a:avLst/>
          </a:prstGeom>
          <a:noFill/>
          <a:ln w="9525" cap="flat" cmpd="sng">
            <a:solidFill>
              <a:schemeClr val="dk2"/>
            </a:solidFill>
            <a:prstDash val="solid"/>
            <a:round/>
            <a:headEnd type="none" w="med" len="med"/>
            <a:tailEnd type="none" w="med" len="med"/>
          </a:ln>
        </p:spPr>
      </p:cxnSp>
      <p:sp>
        <p:nvSpPr>
          <p:cNvPr id="152" name="Google Shape;152;p20"/>
          <p:cNvSpPr/>
          <p:nvPr/>
        </p:nvSpPr>
        <p:spPr>
          <a:xfrm>
            <a:off x="7226150" y="2186775"/>
            <a:ext cx="939900" cy="457200"/>
          </a:xfrm>
          <a:prstGeom prst="wedgeRectCallout">
            <a:avLst>
              <a:gd name="adj1" fmla="val -55264"/>
              <a:gd name="adj2" fmla="val 68400"/>
            </a:avLst>
          </a:prstGeom>
          <a:solidFill>
            <a:srgbClr val="6E263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Source Sans Pro"/>
                <a:ea typeface="Source Sans Pro"/>
                <a:cs typeface="Source Sans Pro"/>
                <a:sym typeface="Source Sans Pro"/>
              </a:rPr>
              <a:t>280 MW Load</a:t>
            </a:r>
            <a:endParaRPr>
              <a:solidFill>
                <a:schemeClr val="lt1"/>
              </a:solidFill>
              <a:latin typeface="Source Sans Pro"/>
              <a:ea typeface="Source Sans Pro"/>
              <a:cs typeface="Source Sans Pro"/>
              <a:sym typeface="Source Sans Pro"/>
            </a:endParaRPr>
          </a:p>
        </p:txBody>
      </p:sp>
      <p:sp>
        <p:nvSpPr>
          <p:cNvPr id="153" name="Google Shape;153;p20"/>
          <p:cNvSpPr/>
          <p:nvPr/>
        </p:nvSpPr>
        <p:spPr>
          <a:xfrm>
            <a:off x="538925" y="2012500"/>
            <a:ext cx="939900" cy="457200"/>
          </a:xfrm>
          <a:prstGeom prst="wedgeRectCallout">
            <a:avLst>
              <a:gd name="adj1" fmla="val 67306"/>
              <a:gd name="adj2" fmla="val -4681"/>
            </a:avLst>
          </a:prstGeom>
          <a:solidFill>
            <a:srgbClr val="6E263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Source Sans Pro"/>
                <a:ea typeface="Source Sans Pro"/>
                <a:cs typeface="Source Sans Pro"/>
                <a:sym typeface="Source Sans Pro"/>
              </a:rPr>
              <a:t>100 MW @ $10/MW</a:t>
            </a:r>
            <a:endParaRPr>
              <a:solidFill>
                <a:schemeClr val="lt1"/>
              </a:solidFill>
              <a:latin typeface="Source Sans Pro"/>
              <a:ea typeface="Source Sans Pro"/>
              <a:cs typeface="Source Sans Pro"/>
              <a:sym typeface="Source Sans Pro"/>
            </a:endParaRPr>
          </a:p>
        </p:txBody>
      </p:sp>
      <p:sp>
        <p:nvSpPr>
          <p:cNvPr id="154" name="Google Shape;154;p20"/>
          <p:cNvSpPr/>
          <p:nvPr/>
        </p:nvSpPr>
        <p:spPr>
          <a:xfrm>
            <a:off x="538925" y="2939275"/>
            <a:ext cx="939900" cy="457200"/>
          </a:xfrm>
          <a:prstGeom prst="wedgeRectCallout">
            <a:avLst>
              <a:gd name="adj1" fmla="val 68360"/>
              <a:gd name="adj2" fmla="val 1487"/>
            </a:avLst>
          </a:prstGeom>
          <a:solidFill>
            <a:srgbClr val="6E263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Source Sans Pro"/>
                <a:ea typeface="Source Sans Pro"/>
                <a:cs typeface="Source Sans Pro"/>
                <a:sym typeface="Source Sans Pro"/>
              </a:rPr>
              <a:t>150 MW @ $20/MW</a:t>
            </a:r>
            <a:endParaRPr>
              <a:solidFill>
                <a:schemeClr val="lt1"/>
              </a:solidFill>
              <a:latin typeface="Source Sans Pro"/>
              <a:ea typeface="Source Sans Pro"/>
              <a:cs typeface="Source Sans Pro"/>
              <a:sym typeface="Source Sans Pro"/>
            </a:endParaRPr>
          </a:p>
        </p:txBody>
      </p:sp>
      <p:sp>
        <p:nvSpPr>
          <p:cNvPr id="155" name="Google Shape;155;p20"/>
          <p:cNvSpPr/>
          <p:nvPr/>
        </p:nvSpPr>
        <p:spPr>
          <a:xfrm>
            <a:off x="538925" y="3866050"/>
            <a:ext cx="939900" cy="457200"/>
          </a:xfrm>
          <a:prstGeom prst="wedgeRectCallout">
            <a:avLst>
              <a:gd name="adj1" fmla="val 68884"/>
              <a:gd name="adj2" fmla="val -56201"/>
            </a:avLst>
          </a:prstGeom>
          <a:solidFill>
            <a:srgbClr val="6E2639"/>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chemeClr val="lt1"/>
                </a:solidFill>
                <a:latin typeface="Source Sans Pro"/>
                <a:ea typeface="Source Sans Pro"/>
                <a:cs typeface="Source Sans Pro"/>
                <a:sym typeface="Source Sans Pro"/>
              </a:rPr>
              <a:t>30 MW @ $25/MW</a:t>
            </a:r>
            <a:endParaRPr>
              <a:solidFill>
                <a:schemeClr val="lt1"/>
              </a:solidFill>
              <a:latin typeface="Source Sans Pro"/>
              <a:ea typeface="Source Sans Pro"/>
              <a:cs typeface="Source Sans Pro"/>
              <a:sym typeface="Source Sans Pro"/>
            </a:endParaRPr>
          </a:p>
        </p:txBody>
      </p:sp>
      <p:sp>
        <p:nvSpPr>
          <p:cNvPr id="156" name="Google Shape;156;p20"/>
          <p:cNvSpPr txBox="1"/>
          <p:nvPr/>
        </p:nvSpPr>
        <p:spPr>
          <a:xfrm>
            <a:off x="2227500" y="3947400"/>
            <a:ext cx="6404700" cy="148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2"/>
                </a:solidFill>
                <a:latin typeface="Source Sans Pro"/>
                <a:ea typeface="Source Sans Pro"/>
                <a:cs typeface="Source Sans Pro"/>
                <a:sym typeface="Source Sans Pro"/>
              </a:rPr>
              <a:t>The offers are “stacked” from</a:t>
            </a:r>
            <a:r>
              <a:rPr lang="en" i="1">
                <a:solidFill>
                  <a:schemeClr val="dk2"/>
                </a:solidFill>
                <a:latin typeface="Source Sans Pro"/>
                <a:ea typeface="Source Sans Pro"/>
                <a:cs typeface="Source Sans Pro"/>
                <a:sym typeface="Source Sans Pro"/>
              </a:rPr>
              <a:t> least → most</a:t>
            </a:r>
            <a:r>
              <a:rPr lang="en">
                <a:solidFill>
                  <a:schemeClr val="dk2"/>
                </a:solidFill>
                <a:latin typeface="Source Sans Pro"/>
                <a:ea typeface="Source Sans Pro"/>
                <a:cs typeface="Source Sans Pro"/>
                <a:sym typeface="Source Sans Pro"/>
              </a:rPr>
              <a:t> expensive until the gen/load is balanced</a:t>
            </a:r>
            <a:endParaRPr>
              <a:solidFill>
                <a:schemeClr val="dk2"/>
              </a:solidFill>
              <a:latin typeface="Source Sans Pro"/>
              <a:ea typeface="Source Sans Pro"/>
              <a:cs typeface="Source Sans Pro"/>
              <a:sym typeface="Source Sans Pro"/>
            </a:endParaRPr>
          </a:p>
          <a:p>
            <a:pPr marL="0" lvl="0" indent="0" algn="l" rtl="0">
              <a:spcBef>
                <a:spcPts val="0"/>
              </a:spcBef>
              <a:spcAft>
                <a:spcPts val="0"/>
              </a:spcAft>
              <a:buNone/>
            </a:pPr>
            <a:endParaRPr>
              <a:solidFill>
                <a:schemeClr val="dk2"/>
              </a:solidFill>
              <a:latin typeface="Source Sans Pro"/>
              <a:ea typeface="Source Sans Pro"/>
              <a:cs typeface="Source Sans Pro"/>
              <a:sym typeface="Source Sans Pro"/>
            </a:endParaRPr>
          </a:p>
          <a:p>
            <a:pPr marL="0" lvl="0" indent="0" algn="l" rtl="0">
              <a:spcBef>
                <a:spcPts val="0"/>
              </a:spcBef>
              <a:spcAft>
                <a:spcPts val="0"/>
              </a:spcAft>
              <a:buNone/>
            </a:pPr>
            <a:r>
              <a:rPr lang="en">
                <a:solidFill>
                  <a:schemeClr val="dk2"/>
                </a:solidFill>
                <a:latin typeface="Source Sans Pro"/>
                <a:ea typeface="Source Sans Pro"/>
                <a:cs typeface="Source Sans Pro"/>
                <a:sym typeface="Source Sans Pro"/>
              </a:rPr>
              <a:t>100 MW  + 150 MW + 30 MW = </a:t>
            </a:r>
            <a:r>
              <a:rPr lang="en" b="1">
                <a:solidFill>
                  <a:schemeClr val="dk2"/>
                </a:solidFill>
                <a:latin typeface="Source Sans Pro"/>
                <a:ea typeface="Source Sans Pro"/>
                <a:cs typeface="Source Sans Pro"/>
                <a:sym typeface="Source Sans Pro"/>
              </a:rPr>
              <a:t>280 MW</a:t>
            </a:r>
            <a:endParaRPr i="1">
              <a:solidFill>
                <a:schemeClr val="dk2"/>
              </a:solidFill>
              <a:latin typeface="Source Sans Pro"/>
              <a:ea typeface="Source Sans Pro"/>
              <a:cs typeface="Source Sans Pro"/>
              <a:sym typeface="Source Sans Pro"/>
            </a:endParaRPr>
          </a:p>
          <a:p>
            <a:pPr marL="0" lvl="0" indent="0" algn="l" rtl="0">
              <a:spcBef>
                <a:spcPts val="0"/>
              </a:spcBef>
              <a:spcAft>
                <a:spcPts val="0"/>
              </a:spcAft>
              <a:buNone/>
            </a:pPr>
            <a:endParaRPr i="1">
              <a:solidFill>
                <a:schemeClr val="dk2"/>
              </a:solidFill>
              <a:latin typeface="Source Sans Pro"/>
              <a:ea typeface="Source Sans Pro"/>
              <a:cs typeface="Source Sans Pro"/>
              <a:sym typeface="Source Sans Pro"/>
            </a:endParaRPr>
          </a:p>
          <a:p>
            <a:pPr marL="0" lvl="0" indent="0" algn="l" rtl="0">
              <a:spcBef>
                <a:spcPts val="0"/>
              </a:spcBef>
              <a:spcAft>
                <a:spcPts val="0"/>
              </a:spcAft>
              <a:buNone/>
            </a:pPr>
            <a:r>
              <a:rPr lang="en">
                <a:solidFill>
                  <a:schemeClr val="dk2"/>
                </a:solidFill>
                <a:latin typeface="Source Sans Pro"/>
                <a:ea typeface="Source Sans Pro"/>
                <a:cs typeface="Source Sans Pro"/>
                <a:sym typeface="Source Sans Pro"/>
              </a:rPr>
              <a:t>Locational Marginal Price (LMP), for this market interval, is set at </a:t>
            </a:r>
            <a:r>
              <a:rPr lang="en" u="sng">
                <a:solidFill>
                  <a:schemeClr val="dk2"/>
                </a:solidFill>
                <a:latin typeface="Source Sans Pro"/>
                <a:ea typeface="Source Sans Pro"/>
                <a:cs typeface="Source Sans Pro"/>
                <a:sym typeface="Source Sans Pro"/>
              </a:rPr>
              <a:t>$25/MW</a:t>
            </a:r>
            <a:endParaRPr u="sng">
              <a:solidFill>
                <a:schemeClr val="dk2"/>
              </a:solidFill>
              <a:latin typeface="Source Sans Pro"/>
              <a:ea typeface="Source Sans Pro"/>
              <a:cs typeface="Source Sans Pro"/>
              <a:sym typeface="Source Sans Pro"/>
            </a:endParaRPr>
          </a:p>
        </p:txBody>
      </p:sp>
      <p:cxnSp>
        <p:nvCxnSpPr>
          <p:cNvPr id="157" name="Google Shape;157;p20"/>
          <p:cNvCxnSpPr/>
          <p:nvPr/>
        </p:nvCxnSpPr>
        <p:spPr>
          <a:xfrm>
            <a:off x="7060375" y="2746725"/>
            <a:ext cx="0" cy="585000"/>
          </a:xfrm>
          <a:prstGeom prst="straightConnector1">
            <a:avLst/>
          </a:prstGeom>
          <a:noFill/>
          <a:ln w="28575" cap="flat" cmpd="sng">
            <a:solidFill>
              <a:schemeClr val="dk2"/>
            </a:solidFill>
            <a:prstDash val="solid"/>
            <a:round/>
            <a:headEnd type="none" w="med" len="med"/>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21"/>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8</a:t>
            </a:fld>
            <a:endParaRPr/>
          </a:p>
        </p:txBody>
      </p:sp>
      <p:pic>
        <p:nvPicPr>
          <p:cNvPr id="163" name="Google Shape;163;p21"/>
          <p:cNvPicPr preferRelativeResize="0"/>
          <p:nvPr/>
        </p:nvPicPr>
        <p:blipFill>
          <a:blip r:embed="rId3">
            <a:alphaModFix/>
          </a:blip>
          <a:stretch>
            <a:fillRect/>
          </a:stretch>
        </p:blipFill>
        <p:spPr>
          <a:xfrm>
            <a:off x="206001" y="760589"/>
            <a:ext cx="5702850" cy="4303751"/>
          </a:xfrm>
          <a:prstGeom prst="rect">
            <a:avLst/>
          </a:prstGeom>
          <a:noFill/>
          <a:ln>
            <a:noFill/>
          </a:ln>
          <a:effectLst>
            <a:outerShdw blurRad="57150" dist="19050" dir="5400000" algn="bl" rotWithShape="0">
              <a:srgbClr val="000000">
                <a:alpha val="50000"/>
              </a:srgbClr>
            </a:outerShdw>
          </a:effectLst>
        </p:spPr>
      </p:pic>
      <p:sp>
        <p:nvSpPr>
          <p:cNvPr id="164" name="Google Shape;164;p21"/>
          <p:cNvSpPr txBox="1">
            <a:spLocks noGrp="1"/>
          </p:cNvSpPr>
          <p:nvPr>
            <p:ph type="title"/>
          </p:nvPr>
        </p:nvSpPr>
        <p:spPr>
          <a:xfrm>
            <a:off x="149950" y="82475"/>
            <a:ext cx="8229600" cy="457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500"/>
              <a:t>SPP Market Territory</a:t>
            </a:r>
            <a:endParaRPr sz="2500"/>
          </a:p>
        </p:txBody>
      </p:sp>
      <p:sp>
        <p:nvSpPr>
          <p:cNvPr id="165" name="Google Shape;165;p21"/>
          <p:cNvSpPr txBox="1"/>
          <p:nvPr/>
        </p:nvSpPr>
        <p:spPr>
          <a:xfrm>
            <a:off x="4994950" y="5285250"/>
            <a:ext cx="3384600" cy="323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900"/>
              <a:t>Source: https://pricecontourmap.spp.org/pricecontourmap</a:t>
            </a:r>
            <a:endParaRPr sz="900" baseline="30000"/>
          </a:p>
        </p:txBody>
      </p:sp>
      <p:sp>
        <p:nvSpPr>
          <p:cNvPr id="166" name="Google Shape;166;p21"/>
          <p:cNvSpPr txBox="1"/>
          <p:nvPr/>
        </p:nvSpPr>
        <p:spPr>
          <a:xfrm>
            <a:off x="6091050" y="760600"/>
            <a:ext cx="3000000" cy="4222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300">
                <a:solidFill>
                  <a:schemeClr val="dk2"/>
                </a:solidFill>
                <a:latin typeface="Source Sans Pro"/>
                <a:ea typeface="Source Sans Pro"/>
                <a:cs typeface="Source Sans Pro"/>
                <a:sym typeface="Source Sans Pro"/>
              </a:rPr>
              <a:t>The marginal pricing example from earlier is set at hundreds of different pricing nodes (“PNodes”) in the SPP footprint. </a:t>
            </a:r>
            <a:endParaRPr sz="1300">
              <a:solidFill>
                <a:schemeClr val="dk2"/>
              </a:solidFill>
              <a:latin typeface="Source Sans Pro"/>
              <a:ea typeface="Source Sans Pro"/>
              <a:cs typeface="Source Sans Pro"/>
              <a:sym typeface="Source Sans Pro"/>
            </a:endParaRPr>
          </a:p>
          <a:p>
            <a:pPr marL="0" lvl="0" indent="0" algn="l" rtl="0">
              <a:lnSpc>
                <a:spcPct val="115000"/>
              </a:lnSpc>
              <a:spcBef>
                <a:spcPts val="1200"/>
              </a:spcBef>
              <a:spcAft>
                <a:spcPts val="0"/>
              </a:spcAft>
              <a:buNone/>
            </a:pPr>
            <a:r>
              <a:rPr lang="en" sz="1300">
                <a:solidFill>
                  <a:schemeClr val="dk2"/>
                </a:solidFill>
                <a:latin typeface="Source Sans Pro"/>
                <a:ea typeface="Source Sans Pro"/>
                <a:cs typeface="Source Sans Pro"/>
                <a:sym typeface="Source Sans Pro"/>
              </a:rPr>
              <a:t>Prices approximated as color gradients where: </a:t>
            </a:r>
            <a:endParaRPr sz="1300">
              <a:solidFill>
                <a:schemeClr val="dk2"/>
              </a:solidFill>
              <a:latin typeface="Source Sans Pro"/>
              <a:ea typeface="Source Sans Pro"/>
              <a:cs typeface="Source Sans Pro"/>
              <a:sym typeface="Source Sans Pro"/>
            </a:endParaRPr>
          </a:p>
          <a:p>
            <a:pPr marL="457200" lvl="0" indent="-311150" algn="l" rtl="0">
              <a:lnSpc>
                <a:spcPct val="115000"/>
              </a:lnSpc>
              <a:spcBef>
                <a:spcPts val="1200"/>
              </a:spcBef>
              <a:spcAft>
                <a:spcPts val="0"/>
              </a:spcAft>
              <a:buSzPts val="1300"/>
              <a:buFont typeface="Source Sans Pro"/>
              <a:buChar char="●"/>
            </a:pPr>
            <a:r>
              <a:rPr lang="en" sz="1300">
                <a:solidFill>
                  <a:schemeClr val="dk2"/>
                </a:solidFill>
                <a:latin typeface="Source Sans Pro"/>
                <a:ea typeface="Source Sans Pro"/>
                <a:cs typeface="Source Sans Pro"/>
                <a:sym typeface="Source Sans Pro"/>
              </a:rPr>
              <a:t>Low prices are </a:t>
            </a:r>
            <a:r>
              <a:rPr lang="en" sz="1300" b="1">
                <a:solidFill>
                  <a:srgbClr val="6E2639"/>
                </a:solidFill>
                <a:latin typeface="Source Sans Pro"/>
                <a:ea typeface="Source Sans Pro"/>
                <a:cs typeface="Source Sans Pro"/>
                <a:sym typeface="Source Sans Pro"/>
              </a:rPr>
              <a:t>purple</a:t>
            </a:r>
            <a:endParaRPr sz="1300" b="1">
              <a:solidFill>
                <a:schemeClr val="dk2"/>
              </a:solidFill>
              <a:latin typeface="Source Sans Pro"/>
              <a:ea typeface="Source Sans Pro"/>
              <a:cs typeface="Source Sans Pro"/>
              <a:sym typeface="Source Sans Pro"/>
            </a:endParaRPr>
          </a:p>
          <a:p>
            <a:pPr marL="457200" lvl="0" indent="-311150" algn="l" rtl="0">
              <a:lnSpc>
                <a:spcPct val="115000"/>
              </a:lnSpc>
              <a:spcBef>
                <a:spcPts val="0"/>
              </a:spcBef>
              <a:spcAft>
                <a:spcPts val="0"/>
              </a:spcAft>
              <a:buSzPts val="1300"/>
              <a:buFont typeface="Source Sans Pro"/>
              <a:buChar char="●"/>
            </a:pPr>
            <a:r>
              <a:rPr lang="en" sz="1300">
                <a:solidFill>
                  <a:schemeClr val="dk2"/>
                </a:solidFill>
                <a:latin typeface="Source Sans Pro"/>
                <a:ea typeface="Source Sans Pro"/>
                <a:cs typeface="Source Sans Pro"/>
                <a:sym typeface="Source Sans Pro"/>
              </a:rPr>
              <a:t>High prices are </a:t>
            </a:r>
            <a:r>
              <a:rPr lang="en" sz="1300" b="1">
                <a:solidFill>
                  <a:srgbClr val="FF0000"/>
                </a:solidFill>
                <a:latin typeface="Source Sans Pro"/>
                <a:ea typeface="Source Sans Pro"/>
                <a:cs typeface="Source Sans Pro"/>
                <a:sym typeface="Source Sans Pro"/>
              </a:rPr>
              <a:t>red</a:t>
            </a:r>
            <a:endParaRPr sz="1300" b="1">
              <a:solidFill>
                <a:srgbClr val="FF0000"/>
              </a:solidFill>
              <a:latin typeface="Source Sans Pro"/>
              <a:ea typeface="Source Sans Pro"/>
              <a:cs typeface="Source Sans Pro"/>
              <a:sym typeface="Source Sans Pro"/>
            </a:endParaRPr>
          </a:p>
          <a:p>
            <a:pPr marL="0" lvl="0" indent="0" algn="l" rtl="0">
              <a:lnSpc>
                <a:spcPct val="115000"/>
              </a:lnSpc>
              <a:spcBef>
                <a:spcPts val="1200"/>
              </a:spcBef>
              <a:spcAft>
                <a:spcPts val="0"/>
              </a:spcAft>
              <a:buNone/>
            </a:pPr>
            <a:r>
              <a:rPr lang="en" sz="1300">
                <a:solidFill>
                  <a:schemeClr val="dk2"/>
                </a:solidFill>
                <a:latin typeface="Source Sans Pro"/>
                <a:ea typeface="Source Sans Pro"/>
                <a:cs typeface="Source Sans Pro"/>
                <a:sym typeface="Source Sans Pro"/>
              </a:rPr>
              <a:t>Under FERC Order 831:</a:t>
            </a:r>
            <a:endParaRPr sz="1300">
              <a:solidFill>
                <a:schemeClr val="dk2"/>
              </a:solidFill>
              <a:latin typeface="Source Sans Pro"/>
              <a:ea typeface="Source Sans Pro"/>
              <a:cs typeface="Source Sans Pro"/>
              <a:sym typeface="Source Sans Pro"/>
            </a:endParaRPr>
          </a:p>
          <a:p>
            <a:pPr marL="457200" lvl="0" indent="-311150" algn="l" rtl="0">
              <a:lnSpc>
                <a:spcPct val="115000"/>
              </a:lnSpc>
              <a:spcBef>
                <a:spcPts val="1200"/>
              </a:spcBef>
              <a:spcAft>
                <a:spcPts val="0"/>
              </a:spcAft>
              <a:buClr>
                <a:schemeClr val="dk2"/>
              </a:buClr>
              <a:buSzPts val="1300"/>
              <a:buFont typeface="Source Sans Pro"/>
              <a:buChar char="●"/>
            </a:pPr>
            <a:r>
              <a:rPr lang="en" sz="1300">
                <a:solidFill>
                  <a:schemeClr val="dk2"/>
                </a:solidFill>
                <a:latin typeface="Source Sans Pro"/>
                <a:ea typeface="Source Sans Pro"/>
                <a:cs typeface="Source Sans Pro"/>
                <a:sym typeface="Source Sans Pro"/>
              </a:rPr>
              <a:t>All energy offers are competitive up to $1000/MW.</a:t>
            </a:r>
            <a:endParaRPr sz="1300">
              <a:solidFill>
                <a:schemeClr val="dk2"/>
              </a:solidFill>
              <a:latin typeface="Source Sans Pro"/>
              <a:ea typeface="Source Sans Pro"/>
              <a:cs typeface="Source Sans Pro"/>
              <a:sym typeface="Source Sans Pro"/>
            </a:endParaRPr>
          </a:p>
          <a:p>
            <a:pPr marL="457200" lvl="0" indent="-311150" algn="l" rtl="0">
              <a:lnSpc>
                <a:spcPct val="115000"/>
              </a:lnSpc>
              <a:spcBef>
                <a:spcPts val="0"/>
              </a:spcBef>
              <a:spcAft>
                <a:spcPts val="0"/>
              </a:spcAft>
              <a:buClr>
                <a:schemeClr val="dk2"/>
              </a:buClr>
              <a:buSzPts val="1300"/>
              <a:buFont typeface="Source Sans Pro"/>
              <a:buChar char="●"/>
            </a:pPr>
            <a:r>
              <a:rPr lang="en" sz="1300">
                <a:solidFill>
                  <a:schemeClr val="dk2"/>
                </a:solidFill>
                <a:latin typeface="Source Sans Pro"/>
                <a:ea typeface="Source Sans Pro"/>
                <a:cs typeface="Source Sans Pro"/>
                <a:sym typeface="Source Sans Pro"/>
              </a:rPr>
              <a:t>Any energy offer &gt; $1000/MW is mitigated</a:t>
            </a:r>
            <a:r>
              <a:rPr lang="en" sz="1300" b="1">
                <a:solidFill>
                  <a:schemeClr val="dk2"/>
                </a:solidFill>
                <a:latin typeface="Source Sans Pro"/>
                <a:ea typeface="Source Sans Pro"/>
                <a:cs typeface="Source Sans Pro"/>
                <a:sym typeface="Source Sans Pro"/>
              </a:rPr>
              <a:t> </a:t>
            </a:r>
            <a:r>
              <a:rPr lang="en" sz="1300" i="1">
                <a:solidFill>
                  <a:schemeClr val="dk2"/>
                </a:solidFill>
                <a:latin typeface="Source Sans Pro"/>
                <a:ea typeface="Source Sans Pro"/>
                <a:cs typeface="Source Sans Pro"/>
                <a:sym typeface="Source Sans Pro"/>
              </a:rPr>
              <a:t>to cost.</a:t>
            </a:r>
            <a:endParaRPr sz="1300">
              <a:solidFill>
                <a:schemeClr val="dk2"/>
              </a:solidFill>
              <a:latin typeface="Source Sans Pro"/>
              <a:ea typeface="Source Sans Pro"/>
              <a:cs typeface="Source Sans Pro"/>
              <a:sym typeface="Source Sans Pro"/>
            </a:endParaRPr>
          </a:p>
          <a:p>
            <a:pPr marL="457200" lvl="0" indent="-311150" algn="l" rtl="0">
              <a:lnSpc>
                <a:spcPct val="115000"/>
              </a:lnSpc>
              <a:spcBef>
                <a:spcPts val="0"/>
              </a:spcBef>
              <a:spcAft>
                <a:spcPts val="0"/>
              </a:spcAft>
              <a:buClr>
                <a:schemeClr val="dk2"/>
              </a:buClr>
              <a:buSzPts val="1300"/>
              <a:buFont typeface="Source Sans Pro"/>
              <a:buChar char="●"/>
            </a:pPr>
            <a:r>
              <a:rPr lang="en" sz="1300">
                <a:solidFill>
                  <a:schemeClr val="dk2"/>
                </a:solidFill>
                <a:latin typeface="Source Sans Pro"/>
                <a:ea typeface="Source Sans Pro"/>
                <a:cs typeface="Source Sans Pro"/>
                <a:sym typeface="Source Sans Pro"/>
              </a:rPr>
              <a:t>Marginal price shall not exceed $2000/MW</a:t>
            </a:r>
            <a:endParaRPr sz="1300">
              <a:solidFill>
                <a:schemeClr val="dk2"/>
              </a:solidFill>
              <a:latin typeface="Source Sans Pro"/>
              <a:ea typeface="Source Sans Pro"/>
              <a:cs typeface="Source Sans Pro"/>
              <a:sym typeface="Source Sans Pr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22"/>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9</a:t>
            </a:fld>
            <a:endParaRPr/>
          </a:p>
        </p:txBody>
      </p:sp>
      <p:sp>
        <p:nvSpPr>
          <p:cNvPr id="172" name="Google Shape;172;p22"/>
          <p:cNvSpPr txBox="1">
            <a:spLocks noGrp="1"/>
          </p:cNvSpPr>
          <p:nvPr>
            <p:ph type="title"/>
          </p:nvPr>
        </p:nvSpPr>
        <p:spPr>
          <a:xfrm>
            <a:off x="149950" y="82475"/>
            <a:ext cx="8229600" cy="457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sz="2500"/>
              <a:t>Wholesale Electric Markets in the United States</a:t>
            </a:r>
            <a:endParaRPr sz="2500"/>
          </a:p>
        </p:txBody>
      </p:sp>
      <p:pic>
        <p:nvPicPr>
          <p:cNvPr id="173" name="Google Shape;173;p22"/>
          <p:cNvPicPr preferRelativeResize="0"/>
          <p:nvPr/>
        </p:nvPicPr>
        <p:blipFill>
          <a:blip r:embed="rId3">
            <a:alphaModFix/>
          </a:blip>
          <a:stretch>
            <a:fillRect/>
          </a:stretch>
        </p:blipFill>
        <p:spPr>
          <a:xfrm>
            <a:off x="1316888" y="707125"/>
            <a:ext cx="6510225" cy="4300749"/>
          </a:xfrm>
          <a:prstGeom prst="rect">
            <a:avLst/>
          </a:prstGeom>
          <a:noFill/>
          <a:ln>
            <a:noFill/>
          </a:ln>
          <a:effectLst>
            <a:outerShdw blurRad="57150" dist="19050" dir="5400000" algn="bl" rotWithShape="0">
              <a:srgbClr val="000000">
                <a:alpha val="50000"/>
              </a:srgbClr>
            </a:outerShdw>
          </a:effectLst>
        </p:spPr>
      </p:pic>
      <p:sp>
        <p:nvSpPr>
          <p:cNvPr id="174" name="Google Shape;174;p22"/>
          <p:cNvSpPr txBox="1"/>
          <p:nvPr/>
        </p:nvSpPr>
        <p:spPr>
          <a:xfrm>
            <a:off x="5104600" y="5257800"/>
            <a:ext cx="3438900" cy="330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900"/>
              <a:t>Source: </a:t>
            </a:r>
            <a:r>
              <a:rPr lang="en" sz="900">
                <a:uFill>
                  <a:noFill/>
                </a:uFill>
                <a:hlinkClick r:id="rId4"/>
              </a:rPr>
              <a:t>https://www.ferc.gov/electric-power-markets/</a:t>
            </a:r>
            <a:endParaRPr sz="900" baseline="30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23"/>
          <p:cNvSpPr txBox="1">
            <a:spLocks noGrp="1"/>
          </p:cNvSpPr>
          <p:nvPr>
            <p:ph type="title"/>
          </p:nvPr>
        </p:nvSpPr>
        <p:spPr>
          <a:xfrm>
            <a:off x="457200" y="2400308"/>
            <a:ext cx="8229600" cy="914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Proposed Solution</a:t>
            </a:r>
            <a:endParaRPr dirty="0"/>
          </a:p>
        </p:txBody>
      </p:sp>
      <p:sp>
        <p:nvSpPr>
          <p:cNvPr id="180" name="Google Shape;180;p23"/>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solidFill>
                  <a:schemeClr val="lt1"/>
                </a:solidFill>
              </a:rPr>
              <a:t>10</a:t>
            </a:fld>
            <a:endParaRPr>
              <a:solidFill>
                <a:schemeClr val="lt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4"/>
        <p:cNvGrpSpPr/>
        <p:nvPr/>
      </p:nvGrpSpPr>
      <p:grpSpPr>
        <a:xfrm>
          <a:off x="0" y="0"/>
          <a:ext cx="0" cy="0"/>
          <a:chOff x="0" y="0"/>
          <a:chExt cx="0" cy="0"/>
        </a:xfrm>
      </p:grpSpPr>
      <p:sp>
        <p:nvSpPr>
          <p:cNvPr id="185" name="Google Shape;185;p24"/>
          <p:cNvSpPr txBox="1">
            <a:spLocks noGrp="1"/>
          </p:cNvSpPr>
          <p:nvPr>
            <p:ph type="title"/>
          </p:nvPr>
        </p:nvSpPr>
        <p:spPr>
          <a:xfrm>
            <a:off x="457200" y="685800"/>
            <a:ext cx="8229600" cy="4572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How is SAS involved?</a:t>
            </a:r>
            <a:endParaRPr b="0"/>
          </a:p>
        </p:txBody>
      </p:sp>
      <p:sp>
        <p:nvSpPr>
          <p:cNvPr id="186" name="Google Shape;186;p24"/>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11</a:t>
            </a:fld>
            <a:endParaRPr/>
          </a:p>
        </p:txBody>
      </p:sp>
      <p:sp>
        <p:nvSpPr>
          <p:cNvPr id="187" name="Google Shape;187;p24"/>
          <p:cNvSpPr txBox="1"/>
          <p:nvPr/>
        </p:nvSpPr>
        <p:spPr>
          <a:xfrm>
            <a:off x="183975" y="1357600"/>
            <a:ext cx="8933700" cy="2373600"/>
          </a:xfrm>
          <a:prstGeom prst="rect">
            <a:avLst/>
          </a:prstGeom>
          <a:noFill/>
          <a:ln>
            <a:noFill/>
          </a:ln>
        </p:spPr>
        <p:txBody>
          <a:bodyPr spcFirstLastPara="1" wrap="square" lIns="91425" tIns="91425" rIns="91425" bIns="91425" anchor="t" anchorCtr="0">
            <a:spAutoFit/>
          </a:bodyPr>
          <a:lstStyle/>
          <a:p>
            <a:pPr marL="457200" lvl="0" indent="-342900" algn="l" rtl="0">
              <a:lnSpc>
                <a:spcPct val="115000"/>
              </a:lnSpc>
              <a:spcBef>
                <a:spcPts val="0"/>
              </a:spcBef>
              <a:spcAft>
                <a:spcPts val="0"/>
              </a:spcAft>
              <a:buClr>
                <a:schemeClr val="dk2"/>
              </a:buClr>
              <a:buSzPts val="1800"/>
              <a:buFont typeface="Source Sans Pro"/>
              <a:buChar char="●"/>
            </a:pPr>
            <a:r>
              <a:rPr lang="en" sz="1800">
                <a:solidFill>
                  <a:schemeClr val="dk2"/>
                </a:solidFill>
                <a:latin typeface="Source Sans Pro"/>
                <a:ea typeface="Source Sans Pro"/>
                <a:cs typeface="Source Sans Pro"/>
                <a:sym typeface="Source Sans Pro"/>
              </a:rPr>
              <a:t>SAS is heavily used in market monitoring</a:t>
            </a:r>
            <a:endParaRPr sz="1800">
              <a:solidFill>
                <a:schemeClr val="dk2"/>
              </a:solidFill>
              <a:latin typeface="Source Sans Pro"/>
              <a:ea typeface="Source Sans Pro"/>
              <a:cs typeface="Source Sans Pro"/>
              <a:sym typeface="Source Sans Pro"/>
            </a:endParaRPr>
          </a:p>
          <a:p>
            <a:pPr marL="914400" lvl="1" indent="-342900" algn="l" rtl="0">
              <a:lnSpc>
                <a:spcPct val="115000"/>
              </a:lnSpc>
              <a:spcBef>
                <a:spcPts val="0"/>
              </a:spcBef>
              <a:spcAft>
                <a:spcPts val="0"/>
              </a:spcAft>
              <a:buClr>
                <a:schemeClr val="dk2"/>
              </a:buClr>
              <a:buSzPts val="1800"/>
              <a:buFont typeface="Source Sans Pro"/>
              <a:buChar char="○"/>
            </a:pPr>
            <a:r>
              <a:rPr lang="en" sz="1800">
                <a:solidFill>
                  <a:schemeClr val="dk2"/>
                </a:solidFill>
                <a:latin typeface="Source Sans Pro"/>
                <a:ea typeface="Source Sans Pro"/>
                <a:cs typeface="Source Sans Pro"/>
                <a:sym typeface="Source Sans Pro"/>
              </a:rPr>
              <a:t>Somewhere between a DSL and GPL (depending on your perspective)</a:t>
            </a:r>
            <a:endParaRPr sz="1800">
              <a:solidFill>
                <a:schemeClr val="dk2"/>
              </a:solidFill>
              <a:latin typeface="Source Sans Pro"/>
              <a:ea typeface="Source Sans Pro"/>
              <a:cs typeface="Source Sans Pro"/>
              <a:sym typeface="Source Sans Pro"/>
            </a:endParaRPr>
          </a:p>
          <a:p>
            <a:pPr marL="914400" lvl="1" indent="-342900" algn="l" rtl="0">
              <a:lnSpc>
                <a:spcPct val="115000"/>
              </a:lnSpc>
              <a:spcBef>
                <a:spcPts val="0"/>
              </a:spcBef>
              <a:spcAft>
                <a:spcPts val="0"/>
              </a:spcAft>
              <a:buClr>
                <a:schemeClr val="dk2"/>
              </a:buClr>
              <a:buSzPts val="1800"/>
              <a:buFont typeface="Source Sans Pro"/>
              <a:buChar char="○"/>
            </a:pPr>
            <a:r>
              <a:rPr lang="en" sz="1800">
                <a:solidFill>
                  <a:schemeClr val="dk2"/>
                </a:solidFill>
                <a:latin typeface="Source Sans Pro"/>
                <a:ea typeface="Source Sans Pro"/>
                <a:cs typeface="Source Sans Pro"/>
                <a:sym typeface="Source Sans Pro"/>
              </a:rPr>
              <a:t>Excellent for data processing, </a:t>
            </a:r>
            <a:r>
              <a:rPr lang="en" sz="1800" i="1">
                <a:solidFill>
                  <a:schemeClr val="dk2"/>
                </a:solidFill>
                <a:latin typeface="Source Sans Pro"/>
                <a:ea typeface="Source Sans Pro"/>
                <a:cs typeface="Source Sans Pro"/>
                <a:sym typeface="Source Sans Pro"/>
              </a:rPr>
              <a:t>but what if you’re not a developer?</a:t>
            </a:r>
            <a:endParaRPr sz="1800" i="1">
              <a:solidFill>
                <a:schemeClr val="dk2"/>
              </a:solidFill>
              <a:latin typeface="Source Sans Pro"/>
              <a:ea typeface="Source Sans Pro"/>
              <a:cs typeface="Source Sans Pro"/>
              <a:sym typeface="Source Sans Pro"/>
            </a:endParaRPr>
          </a:p>
          <a:p>
            <a:pPr marL="457200" lvl="0" indent="-342900" algn="l" rtl="0">
              <a:lnSpc>
                <a:spcPct val="115000"/>
              </a:lnSpc>
              <a:spcBef>
                <a:spcPts val="0"/>
              </a:spcBef>
              <a:spcAft>
                <a:spcPts val="0"/>
              </a:spcAft>
              <a:buClr>
                <a:schemeClr val="dk2"/>
              </a:buClr>
              <a:buSzPts val="1800"/>
              <a:buFont typeface="Source Sans Pro"/>
              <a:buChar char="●"/>
            </a:pPr>
            <a:r>
              <a:rPr lang="en" sz="1800">
                <a:solidFill>
                  <a:schemeClr val="dk2"/>
                </a:solidFill>
                <a:latin typeface="Source Sans Pro"/>
                <a:ea typeface="Source Sans Pro"/>
                <a:cs typeface="Source Sans Pro"/>
                <a:sym typeface="Source Sans Pro"/>
              </a:rPr>
              <a:t>New analysts and/or engineers may: </a:t>
            </a:r>
            <a:endParaRPr sz="1800">
              <a:solidFill>
                <a:schemeClr val="dk2"/>
              </a:solidFill>
              <a:latin typeface="Source Sans Pro"/>
              <a:ea typeface="Source Sans Pro"/>
              <a:cs typeface="Source Sans Pro"/>
              <a:sym typeface="Source Sans Pro"/>
            </a:endParaRPr>
          </a:p>
          <a:p>
            <a:pPr marL="914400" lvl="1" indent="-342900" algn="l" rtl="0">
              <a:lnSpc>
                <a:spcPct val="115000"/>
              </a:lnSpc>
              <a:spcBef>
                <a:spcPts val="0"/>
              </a:spcBef>
              <a:spcAft>
                <a:spcPts val="0"/>
              </a:spcAft>
              <a:buClr>
                <a:schemeClr val="dk2"/>
              </a:buClr>
              <a:buSzPts val="1800"/>
              <a:buFont typeface="Source Sans Pro"/>
              <a:buChar char="○"/>
            </a:pPr>
            <a:r>
              <a:rPr lang="en" sz="1800">
                <a:solidFill>
                  <a:schemeClr val="dk2"/>
                </a:solidFill>
                <a:latin typeface="Source Sans Pro"/>
                <a:ea typeface="Source Sans Pro"/>
                <a:cs typeface="Source Sans Pro"/>
                <a:sym typeface="Source Sans Pro"/>
              </a:rPr>
              <a:t>Inherit old SAS code</a:t>
            </a:r>
            <a:endParaRPr sz="1800">
              <a:solidFill>
                <a:schemeClr val="dk2"/>
              </a:solidFill>
              <a:latin typeface="Source Sans Pro"/>
              <a:ea typeface="Source Sans Pro"/>
              <a:cs typeface="Source Sans Pro"/>
              <a:sym typeface="Source Sans Pro"/>
            </a:endParaRPr>
          </a:p>
          <a:p>
            <a:pPr marL="914400" lvl="1" indent="-342900" algn="l" rtl="0">
              <a:lnSpc>
                <a:spcPct val="115000"/>
              </a:lnSpc>
              <a:spcBef>
                <a:spcPts val="0"/>
              </a:spcBef>
              <a:spcAft>
                <a:spcPts val="0"/>
              </a:spcAft>
              <a:buClr>
                <a:schemeClr val="dk2"/>
              </a:buClr>
              <a:buSzPts val="1800"/>
              <a:buFont typeface="Source Sans Pro"/>
              <a:buChar char="○"/>
            </a:pPr>
            <a:r>
              <a:rPr lang="en" sz="1800">
                <a:solidFill>
                  <a:schemeClr val="dk2"/>
                </a:solidFill>
                <a:latin typeface="Source Sans Pro"/>
                <a:ea typeface="Source Sans Pro"/>
                <a:cs typeface="Source Sans Pro"/>
                <a:sym typeface="Source Sans Pro"/>
              </a:rPr>
              <a:t>Struggle with the complexity of electricity market data</a:t>
            </a:r>
            <a:endParaRPr sz="1800">
              <a:solidFill>
                <a:schemeClr val="dk2"/>
              </a:solidFill>
              <a:latin typeface="Source Sans Pro"/>
              <a:ea typeface="Source Sans Pro"/>
              <a:cs typeface="Source Sans Pro"/>
              <a:sym typeface="Source Sans Pro"/>
            </a:endParaRPr>
          </a:p>
          <a:p>
            <a:pPr marL="914400" lvl="1" indent="-342900" algn="l" rtl="0">
              <a:lnSpc>
                <a:spcPct val="115000"/>
              </a:lnSpc>
              <a:spcBef>
                <a:spcPts val="0"/>
              </a:spcBef>
              <a:spcAft>
                <a:spcPts val="0"/>
              </a:spcAft>
              <a:buClr>
                <a:schemeClr val="dk2"/>
              </a:buClr>
              <a:buSzPts val="1800"/>
              <a:buFont typeface="Source Sans Pro"/>
              <a:buChar char="○"/>
            </a:pPr>
            <a:r>
              <a:rPr lang="en" sz="1800">
                <a:solidFill>
                  <a:schemeClr val="dk2"/>
                </a:solidFill>
                <a:latin typeface="Source Sans Pro"/>
                <a:ea typeface="Source Sans Pro"/>
                <a:cs typeface="Source Sans Pro"/>
                <a:sym typeface="Source Sans Pro"/>
              </a:rPr>
              <a:t>“Recreate the wheel”</a:t>
            </a:r>
            <a:endParaRPr sz="1800">
              <a:solidFill>
                <a:schemeClr val="dk2"/>
              </a:solidFill>
              <a:latin typeface="Source Sans Pro"/>
              <a:ea typeface="Source Sans Pro"/>
              <a:cs typeface="Source Sans Pro"/>
              <a:sym typeface="Source Sans Pro"/>
            </a:endParaRPr>
          </a:p>
        </p:txBody>
      </p:sp>
      <p:sp>
        <p:nvSpPr>
          <p:cNvPr id="188" name="Google Shape;188;p24"/>
          <p:cNvSpPr txBox="1">
            <a:spLocks noGrp="1"/>
          </p:cNvSpPr>
          <p:nvPr>
            <p:ph type="body" idx="4294967295"/>
          </p:nvPr>
        </p:nvSpPr>
        <p:spPr>
          <a:xfrm>
            <a:off x="457200" y="4344299"/>
            <a:ext cx="8229600" cy="491400"/>
          </a:xfrm>
          <a:prstGeom prst="rect">
            <a:avLst/>
          </a:prstGeom>
        </p:spPr>
        <p:txBody>
          <a:bodyPr spcFirstLastPara="1" wrap="square" lIns="0" tIns="0" rIns="0" bIns="0" anchor="t" anchorCtr="0">
            <a:noAutofit/>
          </a:bodyPr>
          <a:lstStyle/>
          <a:p>
            <a:pPr marL="0" lvl="0" indent="0" algn="ctr" rtl="0">
              <a:spcBef>
                <a:spcPts val="0"/>
              </a:spcBef>
              <a:spcAft>
                <a:spcPts val="1200"/>
              </a:spcAft>
              <a:buNone/>
            </a:pPr>
            <a:r>
              <a:rPr lang="en" b="1" u="sng" dirty="0"/>
              <a:t>This is already quite complex … how do you simplify it?</a:t>
            </a:r>
            <a:endParaRPr b="1" u="sng"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5"/>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MLang: Bring the logic closer to the analysts!</a:t>
            </a:r>
            <a:endParaRPr/>
          </a:p>
        </p:txBody>
      </p:sp>
      <p:sp>
        <p:nvSpPr>
          <p:cNvPr id="194" name="Google Shape;194;p25"/>
          <p:cNvSpPr txBox="1">
            <a:spLocks noGrp="1"/>
          </p:cNvSpPr>
          <p:nvPr>
            <p:ph type="body" idx="1"/>
          </p:nvPr>
        </p:nvSpPr>
        <p:spPr>
          <a:xfrm>
            <a:off x="457200" y="1371600"/>
            <a:ext cx="8229600" cy="36576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What if we used the DSL approach?</a:t>
            </a:r>
            <a:endParaRPr/>
          </a:p>
          <a:p>
            <a:pPr marL="457200" lvl="0" indent="-342900" algn="l" rtl="0">
              <a:spcBef>
                <a:spcPts val="1200"/>
              </a:spcBef>
              <a:spcAft>
                <a:spcPts val="0"/>
              </a:spcAft>
              <a:buSzPts val="1800"/>
              <a:buChar char="●"/>
            </a:pPr>
            <a:r>
              <a:rPr lang="en"/>
              <a:t>Instead of starting with SAS – let’s </a:t>
            </a:r>
            <a:r>
              <a:rPr lang="en" i="1"/>
              <a:t>end with </a:t>
            </a:r>
            <a:r>
              <a:rPr lang="en"/>
              <a:t>SAS</a:t>
            </a:r>
            <a:endParaRPr/>
          </a:p>
          <a:p>
            <a:pPr marL="457200" lvl="0" indent="-342900" algn="l" rtl="0">
              <a:spcBef>
                <a:spcPts val="0"/>
              </a:spcBef>
              <a:spcAft>
                <a:spcPts val="0"/>
              </a:spcAft>
              <a:buSzPts val="1800"/>
              <a:buChar char="●"/>
            </a:pPr>
            <a:r>
              <a:rPr lang="en"/>
              <a:t>Express market monitoring tasks in a </a:t>
            </a:r>
            <a:r>
              <a:rPr lang="en" i="1"/>
              <a:t>bespoke programming language</a:t>
            </a:r>
            <a:endParaRPr i="1"/>
          </a:p>
          <a:p>
            <a:pPr marL="457200" lvl="0" indent="-342900" algn="l" rtl="0">
              <a:spcBef>
                <a:spcPts val="0"/>
              </a:spcBef>
              <a:spcAft>
                <a:spcPts val="0"/>
              </a:spcAft>
              <a:buSzPts val="1800"/>
              <a:buChar char="●"/>
            </a:pPr>
            <a:r>
              <a:rPr lang="en" i="1"/>
              <a:t>Transpile </a:t>
            </a:r>
            <a:r>
              <a:rPr lang="en"/>
              <a:t>this new language </a:t>
            </a:r>
            <a:r>
              <a:rPr lang="en" i="1"/>
              <a:t>into </a:t>
            </a:r>
            <a:r>
              <a:rPr lang="en"/>
              <a:t>valid SAS code</a:t>
            </a:r>
            <a:endParaRPr/>
          </a:p>
          <a:p>
            <a:pPr marL="0" lvl="0" indent="0" algn="l" rtl="0">
              <a:spcBef>
                <a:spcPts val="1200"/>
              </a:spcBef>
              <a:spcAft>
                <a:spcPts val="0"/>
              </a:spcAft>
              <a:buNone/>
            </a:pPr>
            <a:r>
              <a:rPr lang="en"/>
              <a:t>Encapsulate the complex tasks as either SAS Macros, DATA step programs, or custom functions</a:t>
            </a:r>
            <a:endParaRPr/>
          </a:p>
          <a:p>
            <a:pPr marL="457200" lvl="0" indent="-342900" algn="l" rtl="0">
              <a:spcBef>
                <a:spcPts val="1200"/>
              </a:spcBef>
              <a:spcAft>
                <a:spcPts val="0"/>
              </a:spcAft>
              <a:buSzPts val="1800"/>
              <a:buChar char="●"/>
            </a:pPr>
            <a:r>
              <a:rPr lang="en"/>
              <a:t>Let the transpiler determine which “chunk” of code to call</a:t>
            </a:r>
            <a:endParaRPr/>
          </a:p>
          <a:p>
            <a:pPr marL="457200" lvl="0" indent="-342900" algn="l" rtl="0">
              <a:spcBef>
                <a:spcPts val="0"/>
              </a:spcBef>
              <a:spcAft>
                <a:spcPts val="0"/>
              </a:spcAft>
              <a:buSzPts val="1800"/>
              <a:buChar char="●"/>
            </a:pPr>
            <a:r>
              <a:rPr lang="en"/>
              <a:t>Custom validations and warnings</a:t>
            </a:r>
            <a:endParaRPr/>
          </a:p>
          <a:p>
            <a:pPr marL="457200" lvl="0" indent="-342900" algn="l" rtl="0">
              <a:spcBef>
                <a:spcPts val="0"/>
              </a:spcBef>
              <a:spcAft>
                <a:spcPts val="0"/>
              </a:spcAft>
              <a:buSzPts val="1800"/>
              <a:buChar char="●"/>
            </a:pPr>
            <a:r>
              <a:rPr lang="en"/>
              <a:t>Alert the user about potential issues </a:t>
            </a:r>
            <a:r>
              <a:rPr lang="en" i="1"/>
              <a:t>prior to runtime</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
        <p:nvSpPr>
          <p:cNvPr id="195" name="Google Shape;195;p25"/>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26"/>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Speaking Plainly</a:t>
            </a:r>
            <a:endParaRPr dirty="0"/>
          </a:p>
        </p:txBody>
      </p:sp>
      <p:sp>
        <p:nvSpPr>
          <p:cNvPr id="201" name="Google Shape;201;p26"/>
          <p:cNvSpPr txBox="1">
            <a:spLocks noGrp="1"/>
          </p:cNvSpPr>
          <p:nvPr>
            <p:ph type="body" idx="1"/>
          </p:nvPr>
        </p:nvSpPr>
        <p:spPr>
          <a:xfrm>
            <a:off x="457200" y="1371600"/>
            <a:ext cx="8229600" cy="3657600"/>
          </a:xfrm>
          <a:prstGeom prst="rect">
            <a:avLst/>
          </a:prstGeom>
        </p:spPr>
        <p:txBody>
          <a:bodyPr spcFirstLastPara="1" wrap="square" lIns="0" tIns="0" rIns="0" bIns="0" anchor="t" anchorCtr="0">
            <a:noAutofit/>
          </a:bodyPr>
          <a:lstStyle/>
          <a:p>
            <a:pPr marL="457200" lvl="0" indent="-342900" algn="l" rtl="0">
              <a:spcBef>
                <a:spcPts val="0"/>
              </a:spcBef>
              <a:spcAft>
                <a:spcPts val="0"/>
              </a:spcAft>
              <a:buSzPts val="1800"/>
              <a:buChar char="●"/>
            </a:pPr>
            <a:r>
              <a:rPr lang="en" dirty="0"/>
              <a:t>Electric markets need to be constantly monitored</a:t>
            </a:r>
            <a:endParaRPr dirty="0"/>
          </a:p>
          <a:p>
            <a:pPr marL="457200" lvl="0" indent="-342900" algn="l" rtl="0">
              <a:spcBef>
                <a:spcPts val="0"/>
              </a:spcBef>
              <a:spcAft>
                <a:spcPts val="0"/>
              </a:spcAft>
              <a:buSzPts val="1800"/>
              <a:buChar char="●"/>
            </a:pPr>
            <a:r>
              <a:rPr lang="en" dirty="0"/>
              <a:t>The data involved is complex and ever-changing</a:t>
            </a:r>
            <a:endParaRPr dirty="0"/>
          </a:p>
          <a:p>
            <a:pPr marL="457200" lvl="0" indent="-342900" algn="l" rtl="0">
              <a:spcBef>
                <a:spcPts val="0"/>
              </a:spcBef>
              <a:spcAft>
                <a:spcPts val="0"/>
              </a:spcAft>
              <a:buSzPts val="1800"/>
              <a:buChar char="●"/>
            </a:pPr>
            <a:r>
              <a:rPr lang="en" dirty="0"/>
              <a:t>Monitors wear many hats</a:t>
            </a:r>
            <a:endParaRPr dirty="0"/>
          </a:p>
          <a:p>
            <a:pPr marL="457200" lvl="0" indent="-342900" algn="l" rtl="0">
              <a:spcBef>
                <a:spcPts val="0"/>
              </a:spcBef>
              <a:spcAft>
                <a:spcPts val="0"/>
              </a:spcAft>
              <a:buSzPts val="1800"/>
              <a:buChar char="●"/>
            </a:pPr>
            <a:r>
              <a:rPr lang="en" dirty="0"/>
              <a:t>Is the solution to require market monitors to also be programmers? </a:t>
            </a:r>
            <a:r>
              <a:rPr lang="en" b="1" dirty="0">
                <a:solidFill>
                  <a:schemeClr val="accent2"/>
                </a:solidFill>
              </a:rPr>
              <a:t>No.</a:t>
            </a:r>
            <a:endParaRPr b="1" dirty="0">
              <a:solidFill>
                <a:schemeClr val="accent2"/>
              </a:solidFill>
            </a:endParaRPr>
          </a:p>
          <a:p>
            <a:pPr marL="457200" lvl="0" indent="-342900" algn="l" rtl="0">
              <a:spcBef>
                <a:spcPts val="0"/>
              </a:spcBef>
              <a:spcAft>
                <a:spcPts val="0"/>
              </a:spcAft>
              <a:buSzPts val="1800"/>
              <a:buChar char="●"/>
            </a:pPr>
            <a:r>
              <a:rPr lang="en" dirty="0"/>
              <a:t>Make the programming more accessible to them? </a:t>
            </a:r>
            <a:r>
              <a:rPr lang="en" b="1" dirty="0">
                <a:solidFill>
                  <a:srgbClr val="6AA84F"/>
                </a:solidFill>
              </a:rPr>
              <a:t>Yes!</a:t>
            </a:r>
            <a:endParaRPr b="1" dirty="0">
              <a:solidFill>
                <a:srgbClr val="6AA84F"/>
              </a:solidFill>
            </a:endParaRPr>
          </a:p>
          <a:p>
            <a:pPr marL="0" lvl="0" indent="0" algn="l" rtl="0">
              <a:spcBef>
                <a:spcPts val="1200"/>
              </a:spcBef>
              <a:spcAft>
                <a:spcPts val="0"/>
              </a:spcAft>
              <a:buNone/>
            </a:pPr>
            <a:endParaRPr b="1" dirty="0">
              <a:solidFill>
                <a:schemeClr val="accent2"/>
              </a:solidFill>
            </a:endParaRPr>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
        <p:nvSpPr>
          <p:cNvPr id="202" name="Google Shape;202;p26"/>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13</a:t>
            </a:fld>
            <a:endParaRPr/>
          </a:p>
        </p:txBody>
      </p:sp>
      <p:sp>
        <p:nvSpPr>
          <p:cNvPr id="203" name="Google Shape;203;p26"/>
          <p:cNvSpPr txBox="1"/>
          <p:nvPr/>
        </p:nvSpPr>
        <p:spPr>
          <a:xfrm>
            <a:off x="1396950" y="3753550"/>
            <a:ext cx="6350100" cy="971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b="1" u="sng" dirty="0">
                <a:solidFill>
                  <a:schemeClr val="dk2"/>
                </a:solidFill>
                <a:latin typeface="Source Sans Pro"/>
                <a:ea typeface="Source Sans Pro"/>
                <a:cs typeface="Source Sans Pro"/>
                <a:sym typeface="Source Sans Pro"/>
              </a:rPr>
              <a:t>“The goal is to empower the users to do meaningful work”</a:t>
            </a:r>
            <a:endParaRPr sz="1800" b="1" u="sng" dirty="0">
              <a:solidFill>
                <a:schemeClr val="dk2"/>
              </a:solidFill>
              <a:latin typeface="Source Sans Pro"/>
              <a:ea typeface="Source Sans Pro"/>
              <a:cs typeface="Source Sans Pro"/>
              <a:sym typeface="Source Sans Pr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7"/>
          <p:cNvSpPr txBox="1">
            <a:spLocks noGrp="1"/>
          </p:cNvSpPr>
          <p:nvPr>
            <p:ph type="title"/>
          </p:nvPr>
        </p:nvSpPr>
        <p:spPr>
          <a:xfrm>
            <a:off x="457200" y="2400308"/>
            <a:ext cx="8229600" cy="914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Study Design</a:t>
            </a:r>
            <a:endParaRPr/>
          </a:p>
        </p:txBody>
      </p:sp>
      <p:sp>
        <p:nvSpPr>
          <p:cNvPr id="209" name="Google Shape;209;p27"/>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solidFill>
                  <a:schemeClr val="lt1"/>
                </a:solidFill>
              </a:rPr>
              <a:t>14</a:t>
            </a:fld>
            <a:endParaRPr>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3"/>
        <p:cNvGrpSpPr/>
        <p:nvPr/>
      </p:nvGrpSpPr>
      <p:grpSpPr>
        <a:xfrm>
          <a:off x="0" y="0"/>
          <a:ext cx="0" cy="0"/>
          <a:chOff x="0" y="0"/>
          <a:chExt cx="0" cy="0"/>
        </a:xfrm>
      </p:grpSpPr>
      <p:sp>
        <p:nvSpPr>
          <p:cNvPr id="214" name="Google Shape;214;p28"/>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Where to Begin?</a:t>
            </a:r>
            <a:endParaRPr/>
          </a:p>
        </p:txBody>
      </p:sp>
      <p:sp>
        <p:nvSpPr>
          <p:cNvPr id="215" name="Google Shape;215;p28"/>
          <p:cNvSpPr txBox="1">
            <a:spLocks noGrp="1"/>
          </p:cNvSpPr>
          <p:nvPr>
            <p:ph type="body" idx="1"/>
          </p:nvPr>
        </p:nvSpPr>
        <p:spPr>
          <a:xfrm>
            <a:off x="457200" y="1371600"/>
            <a:ext cx="8229600" cy="3657600"/>
          </a:xfrm>
          <a:prstGeom prst="rect">
            <a:avLst/>
          </a:prstGeom>
        </p:spPr>
        <p:txBody>
          <a:bodyPr spcFirstLastPara="1" wrap="square" lIns="0" tIns="0" rIns="0" bIns="0" anchor="t" anchorCtr="0">
            <a:noAutofit/>
          </a:bodyPr>
          <a:lstStyle/>
          <a:p>
            <a:pPr marL="457200" lvl="0" indent="-342900" algn="l" rtl="0">
              <a:spcBef>
                <a:spcPts val="0"/>
              </a:spcBef>
              <a:spcAft>
                <a:spcPts val="0"/>
              </a:spcAft>
              <a:buSzPts val="1800"/>
              <a:buChar char="●"/>
            </a:pPr>
            <a:r>
              <a:rPr lang="en"/>
              <a:t>Who would best know what a system to aid market monitors should look like?</a:t>
            </a:r>
            <a:endParaRPr/>
          </a:p>
          <a:p>
            <a:pPr marL="914400" lvl="1" indent="-317500" algn="l" rtl="0">
              <a:spcBef>
                <a:spcPts val="0"/>
              </a:spcBef>
              <a:spcAft>
                <a:spcPts val="0"/>
              </a:spcAft>
              <a:buSzPts val="1400"/>
              <a:buChar char="○"/>
            </a:pPr>
            <a:r>
              <a:rPr lang="en"/>
              <a:t>The monitors themselves!</a:t>
            </a:r>
            <a:endParaRPr/>
          </a:p>
          <a:p>
            <a:pPr marL="457200" lvl="0" indent="-342900" algn="l" rtl="0">
              <a:spcBef>
                <a:spcPts val="0"/>
              </a:spcBef>
              <a:spcAft>
                <a:spcPts val="0"/>
              </a:spcAft>
              <a:buSzPts val="1800"/>
              <a:buChar char="●"/>
            </a:pPr>
            <a:r>
              <a:rPr lang="en"/>
              <a:t>Contacted the Energy Intermarket Surveillance Group (EISG)</a:t>
            </a:r>
            <a:endParaRPr/>
          </a:p>
          <a:p>
            <a:pPr marL="457200" lvl="0" indent="-342900" algn="l" rtl="0">
              <a:spcBef>
                <a:spcPts val="0"/>
              </a:spcBef>
              <a:spcAft>
                <a:spcPts val="0"/>
              </a:spcAft>
              <a:buSzPts val="1800"/>
              <a:buChar char="●"/>
            </a:pPr>
            <a:r>
              <a:rPr lang="en"/>
              <a:t>Requested to conduct a research study to understand workflow</a:t>
            </a:r>
            <a:endParaRPr/>
          </a:p>
          <a:p>
            <a:pPr marL="457200" lvl="0" indent="-342900" algn="l" rtl="0">
              <a:spcBef>
                <a:spcPts val="0"/>
              </a:spcBef>
              <a:spcAft>
                <a:spcPts val="0"/>
              </a:spcAft>
              <a:buSzPts val="1800"/>
              <a:buChar char="●"/>
            </a:pPr>
            <a:r>
              <a:rPr lang="en"/>
              <a:t>Delphi study (expert panel of anonymous participants)</a:t>
            </a:r>
            <a:endParaRPr/>
          </a:p>
          <a:p>
            <a:pPr marL="0" lvl="0" indent="0" algn="l" rtl="0">
              <a:spcBef>
                <a:spcPts val="1200"/>
              </a:spcBef>
              <a:spcAft>
                <a:spcPts val="0"/>
              </a:spcAft>
              <a:buNone/>
            </a:pPr>
            <a:endParaRPr/>
          </a:p>
          <a:p>
            <a:pPr marL="0" lvl="0" indent="0" algn="l" rtl="0">
              <a:spcBef>
                <a:spcPts val="1200"/>
              </a:spcBef>
              <a:spcAft>
                <a:spcPts val="1200"/>
              </a:spcAft>
              <a:buNone/>
            </a:pPr>
            <a:endParaRPr/>
          </a:p>
        </p:txBody>
      </p:sp>
      <p:sp>
        <p:nvSpPr>
          <p:cNvPr id="216" name="Google Shape;216;p28"/>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15</a:t>
            </a:fld>
            <a:endParaRPr/>
          </a:p>
        </p:txBody>
      </p:sp>
      <p:pic>
        <p:nvPicPr>
          <p:cNvPr id="217" name="Google Shape;217;p28"/>
          <p:cNvPicPr preferRelativeResize="0"/>
          <p:nvPr/>
        </p:nvPicPr>
        <p:blipFill>
          <a:blip r:embed="rId3">
            <a:alphaModFix/>
          </a:blip>
          <a:stretch>
            <a:fillRect/>
          </a:stretch>
        </p:blipFill>
        <p:spPr>
          <a:xfrm>
            <a:off x="2443234" y="3385422"/>
            <a:ext cx="4257525" cy="14382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29"/>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Delphi Study</a:t>
            </a:r>
            <a:endParaRPr/>
          </a:p>
        </p:txBody>
      </p:sp>
      <p:sp>
        <p:nvSpPr>
          <p:cNvPr id="223" name="Google Shape;223;p29"/>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16</a:t>
            </a:fld>
            <a:endParaRPr/>
          </a:p>
        </p:txBody>
      </p:sp>
      <p:pic>
        <p:nvPicPr>
          <p:cNvPr id="224" name="Google Shape;224;p29"/>
          <p:cNvPicPr preferRelativeResize="0"/>
          <p:nvPr/>
        </p:nvPicPr>
        <p:blipFill>
          <a:blip r:embed="rId3">
            <a:alphaModFix/>
          </a:blip>
          <a:stretch>
            <a:fillRect/>
          </a:stretch>
        </p:blipFill>
        <p:spPr>
          <a:xfrm>
            <a:off x="1189662" y="3547150"/>
            <a:ext cx="6764676" cy="740000"/>
          </a:xfrm>
          <a:prstGeom prst="rect">
            <a:avLst/>
          </a:prstGeom>
          <a:noFill/>
          <a:ln>
            <a:noFill/>
          </a:ln>
          <a:effectLst>
            <a:outerShdw blurRad="57150" dist="19050" dir="5400000" algn="bl" rotWithShape="0">
              <a:srgbClr val="000000">
                <a:alpha val="50000"/>
              </a:srgbClr>
            </a:outerShdw>
          </a:effectLst>
        </p:spPr>
      </p:pic>
      <p:sp>
        <p:nvSpPr>
          <p:cNvPr id="225" name="Google Shape;225;p29"/>
          <p:cNvSpPr txBox="1">
            <a:spLocks noGrp="1"/>
          </p:cNvSpPr>
          <p:nvPr>
            <p:ph type="body" idx="1"/>
          </p:nvPr>
        </p:nvSpPr>
        <p:spPr>
          <a:xfrm>
            <a:off x="457200" y="1371600"/>
            <a:ext cx="8229600" cy="1773300"/>
          </a:xfrm>
          <a:prstGeom prst="rect">
            <a:avLst/>
          </a:prstGeom>
        </p:spPr>
        <p:txBody>
          <a:bodyPr spcFirstLastPara="1" wrap="square" lIns="0" tIns="0" rIns="0" bIns="0" anchor="t" anchorCtr="0">
            <a:noAutofit/>
          </a:bodyPr>
          <a:lstStyle/>
          <a:p>
            <a:pPr marL="457200" lvl="0" indent="-342900" algn="l" rtl="0">
              <a:spcBef>
                <a:spcPts val="0"/>
              </a:spcBef>
              <a:spcAft>
                <a:spcPts val="0"/>
              </a:spcAft>
              <a:buSzPts val="1800"/>
              <a:buChar char="●"/>
            </a:pPr>
            <a:r>
              <a:rPr lang="en" dirty="0"/>
              <a:t>19 members of the EISG opted to participate</a:t>
            </a:r>
            <a:endParaRPr dirty="0"/>
          </a:p>
          <a:p>
            <a:pPr marL="457200" lvl="0" indent="-342900" algn="l" rtl="0">
              <a:spcBef>
                <a:spcPts val="0"/>
              </a:spcBef>
              <a:spcAft>
                <a:spcPts val="0"/>
              </a:spcAft>
              <a:buSzPts val="1800"/>
              <a:buChar char="●"/>
            </a:pPr>
            <a:r>
              <a:rPr lang="en" dirty="0"/>
              <a:t>2 rounds of survey questions with a mid-round “recap” paper</a:t>
            </a:r>
            <a:endParaRPr dirty="0"/>
          </a:p>
          <a:p>
            <a:pPr marL="914400" lvl="1" indent="-317500" algn="l" rtl="0">
              <a:spcBef>
                <a:spcPts val="0"/>
              </a:spcBef>
              <a:spcAft>
                <a:spcPts val="0"/>
              </a:spcAft>
              <a:buSzPts val="1400"/>
              <a:buChar char="○"/>
            </a:pPr>
            <a:r>
              <a:rPr lang="en" dirty="0"/>
              <a:t>Participants responded anonymously to questions and then received summaries </a:t>
            </a:r>
            <a:endParaRPr dirty="0"/>
          </a:p>
          <a:p>
            <a:pPr marL="457200" lvl="0" indent="-342900" algn="l" rtl="0">
              <a:spcBef>
                <a:spcPts val="0"/>
              </a:spcBef>
              <a:spcAft>
                <a:spcPts val="0"/>
              </a:spcAft>
              <a:buSzPts val="1800"/>
              <a:buChar char="●"/>
            </a:pPr>
            <a:r>
              <a:rPr lang="en" dirty="0"/>
              <a:t>Anonymity helps filter out bias and reduces groupthink</a:t>
            </a:r>
            <a:endParaRPr dirty="0"/>
          </a:p>
          <a:p>
            <a:pPr marL="457200" lvl="0" indent="-342900" algn="l" rtl="0">
              <a:spcBef>
                <a:spcPts val="0"/>
              </a:spcBef>
              <a:spcAft>
                <a:spcPts val="0"/>
              </a:spcAft>
              <a:buSzPts val="1800"/>
              <a:buChar char="●"/>
            </a:pPr>
            <a:r>
              <a:rPr lang="en" dirty="0"/>
              <a:t>Processed results became software requirements</a:t>
            </a:r>
            <a:endParaRPr dirty="0"/>
          </a:p>
          <a:p>
            <a:pPr marL="0" lvl="0" indent="0" algn="l" rtl="0">
              <a:spcBef>
                <a:spcPts val="1200"/>
              </a:spcBef>
              <a:spcAft>
                <a:spcPts val="0"/>
              </a:spcAft>
              <a:buNone/>
            </a:pPr>
            <a:endParaRPr b="1" dirty="0">
              <a:solidFill>
                <a:schemeClr val="accent2"/>
              </a:solidFill>
            </a:endParaRPr>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1200"/>
              </a:spcAft>
              <a:buNone/>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0"/>
          <p:cNvSpPr txBox="1">
            <a:spLocks noGrp="1"/>
          </p:cNvSpPr>
          <p:nvPr>
            <p:ph type="title"/>
          </p:nvPr>
        </p:nvSpPr>
        <p:spPr>
          <a:xfrm>
            <a:off x="457200" y="29935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Thematic Coding</a:t>
            </a:r>
            <a:endParaRPr/>
          </a:p>
        </p:txBody>
      </p:sp>
      <p:sp>
        <p:nvSpPr>
          <p:cNvPr id="231" name="Google Shape;231;p30"/>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17</a:t>
            </a:fld>
            <a:endParaRPr/>
          </a:p>
        </p:txBody>
      </p:sp>
      <p:grpSp>
        <p:nvGrpSpPr>
          <p:cNvPr id="232" name="Google Shape;232;p30"/>
          <p:cNvGrpSpPr/>
          <p:nvPr/>
        </p:nvGrpSpPr>
        <p:grpSpPr>
          <a:xfrm>
            <a:off x="1171425" y="902988"/>
            <a:ext cx="6801150" cy="3909035"/>
            <a:chOff x="457200" y="717925"/>
            <a:chExt cx="6801150" cy="3909035"/>
          </a:xfrm>
        </p:grpSpPr>
        <p:pic>
          <p:nvPicPr>
            <p:cNvPr id="233" name="Google Shape;233;p30"/>
            <p:cNvPicPr preferRelativeResize="0"/>
            <p:nvPr/>
          </p:nvPicPr>
          <p:blipFill>
            <a:blip r:embed="rId3">
              <a:alphaModFix/>
            </a:blip>
            <a:stretch>
              <a:fillRect/>
            </a:stretch>
          </p:blipFill>
          <p:spPr>
            <a:xfrm>
              <a:off x="457200" y="931525"/>
              <a:ext cx="3961250" cy="1174125"/>
            </a:xfrm>
            <a:prstGeom prst="rect">
              <a:avLst/>
            </a:prstGeom>
            <a:noFill/>
            <a:ln>
              <a:noFill/>
            </a:ln>
            <a:effectLst>
              <a:outerShdw blurRad="57150" dist="19050" dir="5400000" algn="bl" rotWithShape="0">
                <a:srgbClr val="000000">
                  <a:alpha val="50000"/>
                </a:srgbClr>
              </a:outerShdw>
            </a:effectLst>
          </p:spPr>
        </p:pic>
        <p:pic>
          <p:nvPicPr>
            <p:cNvPr id="234" name="Google Shape;234;p30"/>
            <p:cNvPicPr preferRelativeResize="0"/>
            <p:nvPr/>
          </p:nvPicPr>
          <p:blipFill>
            <a:blip r:embed="rId4">
              <a:alphaModFix/>
            </a:blip>
            <a:stretch>
              <a:fillRect/>
            </a:stretch>
          </p:blipFill>
          <p:spPr>
            <a:xfrm>
              <a:off x="457200" y="2280623"/>
              <a:ext cx="3961249" cy="1195217"/>
            </a:xfrm>
            <a:prstGeom prst="rect">
              <a:avLst/>
            </a:prstGeom>
            <a:noFill/>
            <a:ln>
              <a:noFill/>
            </a:ln>
            <a:effectLst>
              <a:outerShdw blurRad="57150" dist="19050" dir="5400000" algn="bl" rotWithShape="0">
                <a:srgbClr val="000000">
                  <a:alpha val="50000"/>
                </a:srgbClr>
              </a:outerShdw>
            </a:effectLst>
          </p:spPr>
        </p:pic>
        <p:pic>
          <p:nvPicPr>
            <p:cNvPr id="235" name="Google Shape;235;p30"/>
            <p:cNvPicPr preferRelativeResize="0"/>
            <p:nvPr/>
          </p:nvPicPr>
          <p:blipFill>
            <a:blip r:embed="rId5">
              <a:alphaModFix/>
            </a:blip>
            <a:stretch>
              <a:fillRect/>
            </a:stretch>
          </p:blipFill>
          <p:spPr>
            <a:xfrm>
              <a:off x="457200" y="3650825"/>
              <a:ext cx="3961249" cy="976135"/>
            </a:xfrm>
            <a:prstGeom prst="rect">
              <a:avLst/>
            </a:prstGeom>
            <a:noFill/>
            <a:ln>
              <a:noFill/>
            </a:ln>
            <a:effectLst>
              <a:outerShdw blurRad="57150" dist="19050" dir="5400000" algn="bl" rotWithShape="0">
                <a:srgbClr val="000000">
                  <a:alpha val="50000"/>
                </a:srgbClr>
              </a:outerShdw>
            </a:effectLst>
          </p:spPr>
        </p:pic>
        <p:sp>
          <p:nvSpPr>
            <p:cNvPr id="236" name="Google Shape;236;p30"/>
            <p:cNvSpPr/>
            <p:nvPr/>
          </p:nvSpPr>
          <p:spPr>
            <a:xfrm>
              <a:off x="4285050" y="717925"/>
              <a:ext cx="573900" cy="444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000">
                  <a:latin typeface="Source Sans Pro"/>
                  <a:ea typeface="Source Sans Pro"/>
                  <a:cs typeface="Source Sans Pro"/>
                  <a:sym typeface="Source Sans Pro"/>
                </a:rPr>
                <a:t>Q5</a:t>
              </a:r>
              <a:endParaRPr>
                <a:latin typeface="Source Sans Pro"/>
                <a:ea typeface="Source Sans Pro"/>
                <a:cs typeface="Source Sans Pro"/>
                <a:sym typeface="Source Sans Pro"/>
              </a:endParaRPr>
            </a:p>
          </p:txBody>
        </p:sp>
        <p:sp>
          <p:nvSpPr>
            <p:cNvPr id="237" name="Google Shape;237;p30"/>
            <p:cNvSpPr/>
            <p:nvPr/>
          </p:nvSpPr>
          <p:spPr>
            <a:xfrm>
              <a:off x="4285050" y="2184363"/>
              <a:ext cx="573900" cy="444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000">
                  <a:latin typeface="Source Sans Pro"/>
                  <a:ea typeface="Source Sans Pro"/>
                  <a:cs typeface="Source Sans Pro"/>
                  <a:sym typeface="Source Sans Pro"/>
                </a:rPr>
                <a:t>Q7</a:t>
              </a:r>
              <a:endParaRPr sz="1000">
                <a:latin typeface="Source Sans Pro"/>
                <a:ea typeface="Source Sans Pro"/>
                <a:cs typeface="Source Sans Pro"/>
                <a:sym typeface="Source Sans Pro"/>
              </a:endParaRPr>
            </a:p>
          </p:txBody>
        </p:sp>
        <p:sp>
          <p:nvSpPr>
            <p:cNvPr id="238" name="Google Shape;238;p30"/>
            <p:cNvSpPr/>
            <p:nvPr/>
          </p:nvSpPr>
          <p:spPr>
            <a:xfrm>
              <a:off x="4285050" y="3517175"/>
              <a:ext cx="573900" cy="4449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r>
                <a:rPr lang="en" sz="1000">
                  <a:latin typeface="Source Sans Pro"/>
                  <a:ea typeface="Source Sans Pro"/>
                  <a:cs typeface="Source Sans Pro"/>
                  <a:sym typeface="Source Sans Pro"/>
                </a:rPr>
                <a:t>Q41</a:t>
              </a:r>
              <a:endParaRPr sz="1000">
                <a:latin typeface="Source Sans Pro"/>
                <a:ea typeface="Source Sans Pro"/>
                <a:cs typeface="Source Sans Pro"/>
                <a:sym typeface="Source Sans Pro"/>
              </a:endParaRPr>
            </a:p>
          </p:txBody>
        </p:sp>
        <p:sp>
          <p:nvSpPr>
            <p:cNvPr id="239" name="Google Shape;239;p30"/>
            <p:cNvSpPr/>
            <p:nvPr/>
          </p:nvSpPr>
          <p:spPr>
            <a:xfrm>
              <a:off x="5952000" y="1293438"/>
              <a:ext cx="1271700" cy="450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Sans Pro"/>
                  <a:ea typeface="Source Sans Pro"/>
                  <a:cs typeface="Source Sans Pro"/>
                  <a:sym typeface="Source Sans Pro"/>
                </a:rPr>
                <a:t>Data Quality Checks</a:t>
              </a:r>
              <a:endParaRPr>
                <a:latin typeface="Source Sans Pro"/>
                <a:ea typeface="Source Sans Pro"/>
                <a:cs typeface="Source Sans Pro"/>
                <a:sym typeface="Source Sans Pro"/>
              </a:endParaRPr>
            </a:p>
          </p:txBody>
        </p:sp>
        <p:cxnSp>
          <p:nvCxnSpPr>
            <p:cNvPr id="240" name="Google Shape;240;p30"/>
            <p:cNvCxnSpPr>
              <a:stCxn id="239" idx="1"/>
            </p:cNvCxnSpPr>
            <p:nvPr/>
          </p:nvCxnSpPr>
          <p:spPr>
            <a:xfrm rot="10800000">
              <a:off x="2582400" y="1140888"/>
              <a:ext cx="3369600" cy="377700"/>
            </a:xfrm>
            <a:prstGeom prst="straightConnector1">
              <a:avLst/>
            </a:prstGeom>
            <a:noFill/>
            <a:ln w="9525" cap="flat" cmpd="sng">
              <a:solidFill>
                <a:srgbClr val="FF0000"/>
              </a:solidFill>
              <a:prstDash val="solid"/>
              <a:round/>
              <a:headEnd type="none" w="med" len="med"/>
              <a:tailEnd type="triangle" w="med" len="med"/>
            </a:ln>
          </p:spPr>
        </p:cxnSp>
        <p:cxnSp>
          <p:nvCxnSpPr>
            <p:cNvPr id="241" name="Google Shape;241;p30"/>
            <p:cNvCxnSpPr>
              <a:stCxn id="239" idx="1"/>
            </p:cNvCxnSpPr>
            <p:nvPr/>
          </p:nvCxnSpPr>
          <p:spPr>
            <a:xfrm rot="10800000">
              <a:off x="2626800" y="1289388"/>
              <a:ext cx="3325200" cy="229200"/>
            </a:xfrm>
            <a:prstGeom prst="straightConnector1">
              <a:avLst/>
            </a:prstGeom>
            <a:noFill/>
            <a:ln w="9525" cap="flat" cmpd="sng">
              <a:solidFill>
                <a:srgbClr val="FF0000"/>
              </a:solidFill>
              <a:prstDash val="solid"/>
              <a:round/>
              <a:headEnd type="none" w="med" len="med"/>
              <a:tailEnd type="triangle" w="med" len="med"/>
            </a:ln>
          </p:spPr>
        </p:cxnSp>
        <p:sp>
          <p:nvSpPr>
            <p:cNvPr id="242" name="Google Shape;242;p30"/>
            <p:cNvSpPr/>
            <p:nvPr/>
          </p:nvSpPr>
          <p:spPr>
            <a:xfrm>
              <a:off x="5917350" y="2632350"/>
              <a:ext cx="1341000" cy="450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Sans Pro"/>
                  <a:ea typeface="Source Sans Pro"/>
                  <a:cs typeface="Source Sans Pro"/>
                  <a:sym typeface="Source Sans Pro"/>
                </a:rPr>
                <a:t>Import/Export Targets</a:t>
              </a:r>
              <a:endParaRPr>
                <a:latin typeface="Source Sans Pro"/>
                <a:ea typeface="Source Sans Pro"/>
                <a:cs typeface="Source Sans Pro"/>
                <a:sym typeface="Source Sans Pro"/>
              </a:endParaRPr>
            </a:p>
          </p:txBody>
        </p:sp>
        <p:cxnSp>
          <p:nvCxnSpPr>
            <p:cNvPr id="243" name="Google Shape;243;p30"/>
            <p:cNvCxnSpPr>
              <a:stCxn id="242" idx="1"/>
            </p:cNvCxnSpPr>
            <p:nvPr/>
          </p:nvCxnSpPr>
          <p:spPr>
            <a:xfrm rot="10800000">
              <a:off x="2082750" y="2491800"/>
              <a:ext cx="3834600" cy="365700"/>
            </a:xfrm>
            <a:prstGeom prst="straightConnector1">
              <a:avLst/>
            </a:prstGeom>
            <a:noFill/>
            <a:ln w="9525" cap="flat" cmpd="sng">
              <a:solidFill>
                <a:srgbClr val="FF0000"/>
              </a:solidFill>
              <a:prstDash val="solid"/>
              <a:round/>
              <a:headEnd type="none" w="med" len="med"/>
              <a:tailEnd type="triangle" w="med" len="med"/>
            </a:ln>
          </p:spPr>
        </p:cxnSp>
        <p:cxnSp>
          <p:nvCxnSpPr>
            <p:cNvPr id="244" name="Google Shape;244;p30"/>
            <p:cNvCxnSpPr>
              <a:stCxn id="242" idx="1"/>
            </p:cNvCxnSpPr>
            <p:nvPr/>
          </p:nvCxnSpPr>
          <p:spPr>
            <a:xfrm rot="10800000">
              <a:off x="2018250" y="2620500"/>
              <a:ext cx="3899100" cy="237000"/>
            </a:xfrm>
            <a:prstGeom prst="straightConnector1">
              <a:avLst/>
            </a:prstGeom>
            <a:noFill/>
            <a:ln w="9525" cap="flat" cmpd="sng">
              <a:solidFill>
                <a:srgbClr val="FF0000"/>
              </a:solidFill>
              <a:prstDash val="solid"/>
              <a:round/>
              <a:headEnd type="none" w="med" len="med"/>
              <a:tailEnd type="triangle" w="med" len="med"/>
            </a:ln>
          </p:spPr>
        </p:cxnSp>
        <p:sp>
          <p:nvSpPr>
            <p:cNvPr id="245" name="Google Shape;245;p30"/>
            <p:cNvSpPr/>
            <p:nvPr/>
          </p:nvSpPr>
          <p:spPr>
            <a:xfrm>
              <a:off x="5952000" y="3913738"/>
              <a:ext cx="1271700" cy="450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Sans Pro"/>
                  <a:ea typeface="Source Sans Pro"/>
                  <a:cs typeface="Source Sans Pro"/>
                  <a:sym typeface="Source Sans Pro"/>
                </a:rPr>
                <a:t>Tagging</a:t>
              </a:r>
              <a:endParaRPr>
                <a:latin typeface="Source Sans Pro"/>
                <a:ea typeface="Source Sans Pro"/>
                <a:cs typeface="Source Sans Pro"/>
                <a:sym typeface="Source Sans Pro"/>
              </a:endParaRPr>
            </a:p>
          </p:txBody>
        </p:sp>
        <p:cxnSp>
          <p:nvCxnSpPr>
            <p:cNvPr id="246" name="Google Shape;246;p30"/>
            <p:cNvCxnSpPr>
              <a:stCxn id="245" idx="1"/>
            </p:cNvCxnSpPr>
            <p:nvPr/>
          </p:nvCxnSpPr>
          <p:spPr>
            <a:xfrm rot="10800000">
              <a:off x="2820000" y="3911788"/>
              <a:ext cx="3132000" cy="227100"/>
            </a:xfrm>
            <a:prstGeom prst="straightConnector1">
              <a:avLst/>
            </a:prstGeom>
            <a:noFill/>
            <a:ln w="9525" cap="flat" cmpd="sng">
              <a:solidFill>
                <a:srgbClr val="FF0000"/>
              </a:solidFill>
              <a:prstDash val="solid"/>
              <a:round/>
              <a:headEnd type="none" w="med" len="med"/>
              <a:tailEnd type="triangle" w="med" len="med"/>
            </a:ln>
          </p:spPr>
        </p:cxnSp>
        <p:cxnSp>
          <p:nvCxnSpPr>
            <p:cNvPr id="247" name="Google Shape;247;p30"/>
            <p:cNvCxnSpPr>
              <a:stCxn id="245" idx="1"/>
            </p:cNvCxnSpPr>
            <p:nvPr/>
          </p:nvCxnSpPr>
          <p:spPr>
            <a:xfrm rot="10800000">
              <a:off x="2770500" y="4035688"/>
              <a:ext cx="3181500" cy="103200"/>
            </a:xfrm>
            <a:prstGeom prst="straightConnector1">
              <a:avLst/>
            </a:prstGeom>
            <a:noFill/>
            <a:ln w="9525" cap="flat" cmpd="sng">
              <a:solidFill>
                <a:srgbClr val="FF0000"/>
              </a:solidFill>
              <a:prstDash val="solid"/>
              <a:round/>
              <a:headEnd type="none" w="med" len="med"/>
              <a:tailEnd type="triangle" w="med" len="med"/>
            </a:ln>
          </p:spPr>
        </p:cxn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Google Shape;252;p31"/>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Basic Requirements and Use Cases</a:t>
            </a:r>
            <a:endParaRPr/>
          </a:p>
        </p:txBody>
      </p:sp>
      <p:sp>
        <p:nvSpPr>
          <p:cNvPr id="253" name="Google Shape;253;p31"/>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18</a:t>
            </a:fld>
            <a:endParaRPr/>
          </a:p>
        </p:txBody>
      </p:sp>
      <p:pic>
        <p:nvPicPr>
          <p:cNvPr id="254" name="Google Shape;254;p31"/>
          <p:cNvPicPr preferRelativeResize="0"/>
          <p:nvPr/>
        </p:nvPicPr>
        <p:blipFill>
          <a:blip r:embed="rId3">
            <a:alphaModFix/>
          </a:blip>
          <a:stretch>
            <a:fillRect/>
          </a:stretch>
        </p:blipFill>
        <p:spPr>
          <a:xfrm>
            <a:off x="597425" y="1190000"/>
            <a:ext cx="8013280" cy="380999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32"/>
          <p:cNvSpPr txBox="1">
            <a:spLocks noGrp="1"/>
          </p:cNvSpPr>
          <p:nvPr>
            <p:ph type="title"/>
          </p:nvPr>
        </p:nvSpPr>
        <p:spPr>
          <a:xfrm>
            <a:off x="457200" y="2400308"/>
            <a:ext cx="8229600" cy="914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dirty="0"/>
              <a:t>Proof of Concept</a:t>
            </a:r>
            <a:br>
              <a:rPr lang="en" dirty="0"/>
            </a:br>
            <a:r>
              <a:rPr lang="en" dirty="0"/>
              <a:t> Implementation</a:t>
            </a:r>
            <a:endParaRPr dirty="0"/>
          </a:p>
        </p:txBody>
      </p:sp>
      <p:sp>
        <p:nvSpPr>
          <p:cNvPr id="260" name="Google Shape;260;p32"/>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solidFill>
                  <a:schemeClr val="lt1"/>
                </a:solidFill>
              </a:rPr>
              <a:t>19</a:t>
            </a:fld>
            <a:endParaRPr>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33"/>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Technology Stack</a:t>
            </a:r>
            <a:endParaRPr/>
          </a:p>
        </p:txBody>
      </p:sp>
      <p:sp>
        <p:nvSpPr>
          <p:cNvPr id="266" name="Google Shape;266;p33"/>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20</a:t>
            </a:fld>
            <a:endParaRPr/>
          </a:p>
        </p:txBody>
      </p:sp>
      <p:pic>
        <p:nvPicPr>
          <p:cNvPr id="267" name="Google Shape;267;p33"/>
          <p:cNvPicPr preferRelativeResize="0"/>
          <p:nvPr/>
        </p:nvPicPr>
        <p:blipFill>
          <a:blip r:embed="rId3">
            <a:alphaModFix/>
          </a:blip>
          <a:stretch>
            <a:fillRect/>
          </a:stretch>
        </p:blipFill>
        <p:spPr>
          <a:xfrm>
            <a:off x="2870938" y="3073425"/>
            <a:ext cx="1235250" cy="1235250"/>
          </a:xfrm>
          <a:prstGeom prst="rect">
            <a:avLst/>
          </a:prstGeom>
          <a:no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pic>
      <p:pic>
        <p:nvPicPr>
          <p:cNvPr id="268" name="Google Shape;268;p33"/>
          <p:cNvPicPr preferRelativeResize="0"/>
          <p:nvPr/>
        </p:nvPicPr>
        <p:blipFill>
          <a:blip r:embed="rId4">
            <a:alphaModFix/>
          </a:blip>
          <a:stretch>
            <a:fillRect/>
          </a:stretch>
        </p:blipFill>
        <p:spPr>
          <a:xfrm>
            <a:off x="7079013" y="4573100"/>
            <a:ext cx="1269924" cy="709049"/>
          </a:xfrm>
          <a:prstGeom prst="rect">
            <a:avLst/>
          </a:prstGeom>
          <a:noFill/>
          <a:ln>
            <a:noFill/>
          </a:ln>
          <a:effectLst>
            <a:outerShdw blurRad="57150" dist="19050" dir="5400000" algn="bl" rotWithShape="0">
              <a:srgbClr val="000000">
                <a:alpha val="50000"/>
              </a:srgbClr>
            </a:outerShdw>
          </a:effectLst>
        </p:spPr>
      </p:pic>
      <p:pic>
        <p:nvPicPr>
          <p:cNvPr id="269" name="Google Shape;269;p33"/>
          <p:cNvPicPr preferRelativeResize="0"/>
          <p:nvPr/>
        </p:nvPicPr>
        <p:blipFill>
          <a:blip r:embed="rId5">
            <a:alphaModFix/>
          </a:blip>
          <a:stretch>
            <a:fillRect/>
          </a:stretch>
        </p:blipFill>
        <p:spPr>
          <a:xfrm>
            <a:off x="2811812" y="1693100"/>
            <a:ext cx="1353520" cy="457200"/>
          </a:xfrm>
          <a:prstGeom prst="rect">
            <a:avLst/>
          </a:prstGeom>
          <a:noFill/>
          <a:ln>
            <a:noFill/>
          </a:ln>
          <a:effectLst>
            <a:outerShdw blurRad="57150" dist="19050" dir="5400000" algn="bl" rotWithShape="0">
              <a:srgbClr val="000000">
                <a:alpha val="50000"/>
              </a:srgbClr>
            </a:outerShdw>
          </a:effectLst>
        </p:spPr>
      </p:pic>
      <p:sp>
        <p:nvSpPr>
          <p:cNvPr id="270" name="Google Shape;270;p33"/>
          <p:cNvSpPr/>
          <p:nvPr/>
        </p:nvSpPr>
        <p:spPr>
          <a:xfrm>
            <a:off x="527750" y="1631300"/>
            <a:ext cx="1671600" cy="580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Sans Pro"/>
                <a:ea typeface="Source Sans Pro"/>
                <a:cs typeface="Source Sans Pro"/>
                <a:sym typeface="Source Sans Pro"/>
              </a:rPr>
              <a:t>Automates the transpiler process</a:t>
            </a:r>
            <a:endParaRPr>
              <a:latin typeface="Source Sans Pro"/>
              <a:ea typeface="Source Sans Pro"/>
              <a:cs typeface="Source Sans Pro"/>
              <a:sym typeface="Source Sans Pro"/>
            </a:endParaRPr>
          </a:p>
        </p:txBody>
      </p:sp>
      <p:cxnSp>
        <p:nvCxnSpPr>
          <p:cNvPr id="271" name="Google Shape;271;p33"/>
          <p:cNvCxnSpPr>
            <a:stCxn id="267" idx="0"/>
            <a:endCxn id="269" idx="2"/>
          </p:cNvCxnSpPr>
          <p:nvPr/>
        </p:nvCxnSpPr>
        <p:spPr>
          <a:xfrm rot="10800000">
            <a:off x="3488563" y="2150325"/>
            <a:ext cx="0" cy="923100"/>
          </a:xfrm>
          <a:prstGeom prst="straightConnector1">
            <a:avLst/>
          </a:prstGeom>
          <a:noFill/>
          <a:ln w="9525" cap="flat" cmpd="sng">
            <a:solidFill>
              <a:schemeClr val="dk2"/>
            </a:solidFill>
            <a:prstDash val="solid"/>
            <a:round/>
            <a:headEnd type="none" w="med" len="med"/>
            <a:tailEnd type="triangle" w="med" len="med"/>
          </a:ln>
        </p:spPr>
      </p:cxnSp>
      <p:cxnSp>
        <p:nvCxnSpPr>
          <p:cNvPr id="272" name="Google Shape;272;p33"/>
          <p:cNvCxnSpPr>
            <a:stCxn id="270" idx="3"/>
            <a:endCxn id="269" idx="1"/>
          </p:cNvCxnSpPr>
          <p:nvPr/>
        </p:nvCxnSpPr>
        <p:spPr>
          <a:xfrm>
            <a:off x="2199350" y="1921700"/>
            <a:ext cx="612600" cy="0"/>
          </a:xfrm>
          <a:prstGeom prst="straightConnector1">
            <a:avLst/>
          </a:prstGeom>
          <a:noFill/>
          <a:ln w="9525" cap="flat" cmpd="sng">
            <a:solidFill>
              <a:schemeClr val="dk2"/>
            </a:solidFill>
            <a:prstDash val="solid"/>
            <a:round/>
            <a:headEnd type="none" w="med" len="med"/>
            <a:tailEnd type="triangle" w="med" len="med"/>
          </a:ln>
        </p:spPr>
      </p:cxnSp>
      <p:sp>
        <p:nvSpPr>
          <p:cNvPr id="273" name="Google Shape;273;p33"/>
          <p:cNvSpPr/>
          <p:nvPr/>
        </p:nvSpPr>
        <p:spPr>
          <a:xfrm>
            <a:off x="527750" y="3297450"/>
            <a:ext cx="1671600" cy="787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Sans Pro"/>
                <a:ea typeface="Source Sans Pro"/>
                <a:cs typeface="Source Sans Pro"/>
                <a:sym typeface="Source Sans Pro"/>
              </a:rPr>
              <a:t>Builds the MLang parser and syntax trees</a:t>
            </a:r>
            <a:endParaRPr>
              <a:latin typeface="Source Sans Pro"/>
              <a:ea typeface="Source Sans Pro"/>
              <a:cs typeface="Source Sans Pro"/>
              <a:sym typeface="Source Sans Pro"/>
            </a:endParaRPr>
          </a:p>
        </p:txBody>
      </p:sp>
      <p:cxnSp>
        <p:nvCxnSpPr>
          <p:cNvPr id="274" name="Google Shape;274;p33"/>
          <p:cNvCxnSpPr>
            <a:stCxn id="273" idx="3"/>
            <a:endCxn id="267" idx="1"/>
          </p:cNvCxnSpPr>
          <p:nvPr/>
        </p:nvCxnSpPr>
        <p:spPr>
          <a:xfrm>
            <a:off x="2199350" y="3691050"/>
            <a:ext cx="671700" cy="0"/>
          </a:xfrm>
          <a:prstGeom prst="straightConnector1">
            <a:avLst/>
          </a:prstGeom>
          <a:noFill/>
          <a:ln w="9525" cap="flat" cmpd="sng">
            <a:solidFill>
              <a:schemeClr val="dk2"/>
            </a:solidFill>
            <a:prstDash val="solid"/>
            <a:round/>
            <a:headEnd type="none" w="med" len="med"/>
            <a:tailEnd type="triangle" w="med" len="med"/>
          </a:ln>
        </p:spPr>
      </p:cxnSp>
      <p:sp>
        <p:nvSpPr>
          <p:cNvPr id="275" name="Google Shape;275;p33"/>
          <p:cNvSpPr txBox="1"/>
          <p:nvPr/>
        </p:nvSpPr>
        <p:spPr>
          <a:xfrm>
            <a:off x="2945625" y="2460075"/>
            <a:ext cx="2361000" cy="140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2"/>
                </a:solidFill>
                <a:latin typeface="Source Sans Pro"/>
                <a:ea typeface="Source Sans Pro"/>
                <a:cs typeface="Source Sans Pro"/>
                <a:sym typeface="Source Sans Pro"/>
              </a:rPr>
              <a:t>Library include</a:t>
            </a:r>
            <a:endParaRPr sz="1000">
              <a:solidFill>
                <a:schemeClr val="dk2"/>
              </a:solidFill>
              <a:latin typeface="Source Sans Pro"/>
              <a:ea typeface="Source Sans Pro"/>
              <a:cs typeface="Source Sans Pro"/>
              <a:sym typeface="Source Sans Pro"/>
            </a:endParaRPr>
          </a:p>
        </p:txBody>
      </p:sp>
      <p:sp>
        <p:nvSpPr>
          <p:cNvPr id="276" name="Google Shape;276;p33"/>
          <p:cNvSpPr/>
          <p:nvPr/>
        </p:nvSpPr>
        <p:spPr>
          <a:xfrm>
            <a:off x="5174000" y="1631300"/>
            <a:ext cx="1671600" cy="5808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a:latin typeface="Source Sans Pro"/>
                <a:ea typeface="Source Sans Pro"/>
                <a:cs typeface="Source Sans Pro"/>
                <a:sym typeface="Source Sans Pro"/>
              </a:rPr>
              <a:t>Produces output logs and *.sas files</a:t>
            </a:r>
            <a:endParaRPr>
              <a:latin typeface="Source Sans Pro"/>
              <a:ea typeface="Source Sans Pro"/>
              <a:cs typeface="Source Sans Pro"/>
              <a:sym typeface="Source Sans Pro"/>
            </a:endParaRPr>
          </a:p>
        </p:txBody>
      </p:sp>
      <p:cxnSp>
        <p:nvCxnSpPr>
          <p:cNvPr id="277" name="Google Shape;277;p33"/>
          <p:cNvCxnSpPr>
            <a:stCxn id="269" idx="3"/>
            <a:endCxn id="276" idx="1"/>
          </p:cNvCxnSpPr>
          <p:nvPr/>
        </p:nvCxnSpPr>
        <p:spPr>
          <a:xfrm>
            <a:off x="4165332" y="1921700"/>
            <a:ext cx="1008600" cy="0"/>
          </a:xfrm>
          <a:prstGeom prst="straightConnector1">
            <a:avLst/>
          </a:prstGeom>
          <a:noFill/>
          <a:ln w="9525" cap="flat" cmpd="sng">
            <a:solidFill>
              <a:schemeClr val="dk2"/>
            </a:solidFill>
            <a:prstDash val="solid"/>
            <a:round/>
            <a:headEnd type="none" w="med" len="med"/>
            <a:tailEnd type="triangle" w="med" len="med"/>
          </a:ln>
        </p:spPr>
      </p:cxnSp>
      <p:sp>
        <p:nvSpPr>
          <p:cNvPr id="278" name="Google Shape;278;p33"/>
          <p:cNvSpPr/>
          <p:nvPr/>
        </p:nvSpPr>
        <p:spPr>
          <a:xfrm>
            <a:off x="5246200" y="2803700"/>
            <a:ext cx="1353510" cy="629586"/>
          </a:xfrm>
          <a:prstGeom prst="flowChartMultidocument">
            <a:avLst/>
          </a:prstGeom>
          <a:solidFill>
            <a:srgbClr val="4A86E8"/>
          </a:solidFill>
          <a:ln w="9525" cap="flat" cmpd="sng">
            <a:solidFill>
              <a:schemeClr val="dk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a:solidFill>
                  <a:srgbClr val="FCFCFC"/>
                </a:solidFill>
                <a:latin typeface="Source Sans Pro"/>
                <a:ea typeface="Source Sans Pro"/>
                <a:cs typeface="Source Sans Pro"/>
                <a:sym typeface="Source Sans Pro"/>
              </a:rPr>
              <a:t>SAS</a:t>
            </a:r>
            <a:endParaRPr>
              <a:solidFill>
                <a:srgbClr val="FCFCFC"/>
              </a:solidFill>
              <a:latin typeface="Source Sans Pro"/>
              <a:ea typeface="Source Sans Pro"/>
              <a:cs typeface="Source Sans Pro"/>
              <a:sym typeface="Source Sans Pro"/>
            </a:endParaRPr>
          </a:p>
        </p:txBody>
      </p:sp>
      <p:cxnSp>
        <p:nvCxnSpPr>
          <p:cNvPr id="279" name="Google Shape;279;p33"/>
          <p:cNvCxnSpPr>
            <a:stCxn id="276" idx="2"/>
            <a:endCxn id="278" idx="0"/>
          </p:cNvCxnSpPr>
          <p:nvPr/>
        </p:nvCxnSpPr>
        <p:spPr>
          <a:xfrm>
            <a:off x="6009800" y="2212100"/>
            <a:ext cx="6300" cy="591600"/>
          </a:xfrm>
          <a:prstGeom prst="straightConnector1">
            <a:avLst/>
          </a:prstGeom>
          <a:noFill/>
          <a:ln w="9525" cap="flat" cmpd="sng">
            <a:solidFill>
              <a:schemeClr val="dk2"/>
            </a:solidFill>
            <a:prstDash val="solid"/>
            <a:round/>
            <a:headEnd type="none" w="med" len="med"/>
            <a:tailEnd type="triangle" w="med" len="med"/>
          </a:ln>
        </p:spPr>
      </p:cxnSp>
      <p:pic>
        <p:nvPicPr>
          <p:cNvPr id="280" name="Google Shape;280;p33"/>
          <p:cNvPicPr preferRelativeResize="0"/>
          <p:nvPr/>
        </p:nvPicPr>
        <p:blipFill>
          <a:blip r:embed="rId6">
            <a:alphaModFix/>
          </a:blip>
          <a:stretch>
            <a:fillRect/>
          </a:stretch>
        </p:blipFill>
        <p:spPr>
          <a:xfrm>
            <a:off x="5626955" y="4573096"/>
            <a:ext cx="427152" cy="709050"/>
          </a:xfrm>
          <a:prstGeom prst="rect">
            <a:avLst/>
          </a:prstGeom>
          <a:noFill/>
          <a:ln>
            <a:noFill/>
          </a:ln>
          <a:effectLst>
            <a:outerShdw blurRad="57150" dist="19050" dir="5400000" algn="bl" rotWithShape="0">
              <a:srgbClr val="000000">
                <a:alpha val="50000"/>
              </a:srgbClr>
            </a:outerShdw>
          </a:effectLst>
        </p:spPr>
      </p:pic>
      <p:cxnSp>
        <p:nvCxnSpPr>
          <p:cNvPr id="281" name="Google Shape;281;p33"/>
          <p:cNvCxnSpPr>
            <a:stCxn id="280" idx="3"/>
            <a:endCxn id="268" idx="1"/>
          </p:cNvCxnSpPr>
          <p:nvPr/>
        </p:nvCxnSpPr>
        <p:spPr>
          <a:xfrm>
            <a:off x="6054106" y="4927621"/>
            <a:ext cx="1024800" cy="0"/>
          </a:xfrm>
          <a:prstGeom prst="straightConnector1">
            <a:avLst/>
          </a:prstGeom>
          <a:noFill/>
          <a:ln w="9525" cap="flat" cmpd="sng">
            <a:solidFill>
              <a:schemeClr val="dk2"/>
            </a:solidFill>
            <a:prstDash val="solid"/>
            <a:round/>
            <a:headEnd type="none" w="med" len="med"/>
            <a:tailEnd type="triangle" w="med" len="med"/>
          </a:ln>
        </p:spPr>
      </p:cxnSp>
      <p:cxnSp>
        <p:nvCxnSpPr>
          <p:cNvPr id="282" name="Google Shape;282;p33"/>
          <p:cNvCxnSpPr>
            <a:stCxn id="278" idx="2"/>
            <a:endCxn id="280" idx="0"/>
          </p:cNvCxnSpPr>
          <p:nvPr/>
        </p:nvCxnSpPr>
        <p:spPr>
          <a:xfrm>
            <a:off x="5828836" y="3409443"/>
            <a:ext cx="11700" cy="1163700"/>
          </a:xfrm>
          <a:prstGeom prst="straightConnector1">
            <a:avLst/>
          </a:prstGeom>
          <a:noFill/>
          <a:ln w="9525" cap="flat" cmpd="sng">
            <a:solidFill>
              <a:schemeClr val="dk2"/>
            </a:solidFill>
            <a:prstDash val="solid"/>
            <a:round/>
            <a:headEnd type="none" w="med" len="med"/>
            <a:tailEnd type="triangle" w="med" len="med"/>
          </a:ln>
        </p:spPr>
      </p:cxnSp>
      <p:sp>
        <p:nvSpPr>
          <p:cNvPr id="283" name="Google Shape;283;p33"/>
          <p:cNvSpPr txBox="1"/>
          <p:nvPr/>
        </p:nvSpPr>
        <p:spPr>
          <a:xfrm>
            <a:off x="5246200" y="3917850"/>
            <a:ext cx="15582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2"/>
                </a:solidFill>
                <a:latin typeface="Source Sans Pro"/>
                <a:ea typeface="Source Sans Pro"/>
                <a:cs typeface="Source Sans Pro"/>
                <a:sym typeface="Source Sans Pro"/>
              </a:rPr>
              <a:t>User manually uploads and executes code</a:t>
            </a:r>
            <a:endParaRPr sz="1000">
              <a:solidFill>
                <a:schemeClr val="dk2"/>
              </a:solidFill>
              <a:latin typeface="Source Sans Pro"/>
              <a:ea typeface="Source Sans Pro"/>
              <a:cs typeface="Source Sans Pro"/>
              <a:sym typeface="Source Sans Pro"/>
            </a:endParaRPr>
          </a:p>
        </p:txBody>
      </p:sp>
      <p:sp>
        <p:nvSpPr>
          <p:cNvPr id="284" name="Google Shape;284;p33"/>
          <p:cNvSpPr txBox="1"/>
          <p:nvPr/>
        </p:nvSpPr>
        <p:spPr>
          <a:xfrm>
            <a:off x="7106150" y="4184325"/>
            <a:ext cx="1558200" cy="190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2"/>
                </a:solidFill>
                <a:latin typeface="Source Sans Pro"/>
                <a:ea typeface="Source Sans Pro"/>
                <a:cs typeface="Source Sans Pro"/>
                <a:sym typeface="Source Sans Pro"/>
              </a:rPr>
              <a:t>SAS OnDemand For Academics (SODA)</a:t>
            </a:r>
            <a:endParaRPr sz="1000">
              <a:solidFill>
                <a:schemeClr val="dk2"/>
              </a:solidFill>
              <a:latin typeface="Source Sans Pro"/>
              <a:ea typeface="Source Sans Pro"/>
              <a:cs typeface="Source Sans Pro"/>
              <a:sym typeface="Source Sans Pr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34"/>
          <p:cNvSpPr txBox="1">
            <a:spLocks noGrp="1"/>
          </p:cNvSpPr>
          <p:nvPr>
            <p:ph type="title"/>
          </p:nvPr>
        </p:nvSpPr>
        <p:spPr>
          <a:xfrm>
            <a:off x="492300" y="2003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Grammar and MLang Source</a:t>
            </a:r>
            <a:endParaRPr/>
          </a:p>
        </p:txBody>
      </p:sp>
      <p:sp>
        <p:nvSpPr>
          <p:cNvPr id="290" name="Google Shape;290;p34"/>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21</a:t>
            </a:fld>
            <a:endParaRPr/>
          </a:p>
        </p:txBody>
      </p:sp>
      <p:pic>
        <p:nvPicPr>
          <p:cNvPr id="291" name="Google Shape;291;p34"/>
          <p:cNvPicPr preferRelativeResize="0"/>
          <p:nvPr/>
        </p:nvPicPr>
        <p:blipFill>
          <a:blip r:embed="rId3">
            <a:alphaModFix/>
          </a:blip>
          <a:stretch>
            <a:fillRect/>
          </a:stretch>
        </p:blipFill>
        <p:spPr>
          <a:xfrm>
            <a:off x="620975" y="752250"/>
            <a:ext cx="3414625" cy="4376099"/>
          </a:xfrm>
          <a:prstGeom prst="rect">
            <a:avLst/>
          </a:prstGeom>
          <a:noFill/>
          <a:ln>
            <a:noFill/>
          </a:ln>
          <a:effectLst>
            <a:outerShdw blurRad="57150" dist="19050" dir="5400000" algn="bl" rotWithShape="0">
              <a:srgbClr val="000000">
                <a:alpha val="50000"/>
              </a:srgbClr>
            </a:outerShdw>
          </a:effectLst>
        </p:spPr>
      </p:pic>
      <p:pic>
        <p:nvPicPr>
          <p:cNvPr id="292" name="Google Shape;292;p34"/>
          <p:cNvPicPr preferRelativeResize="0"/>
          <p:nvPr/>
        </p:nvPicPr>
        <p:blipFill>
          <a:blip r:embed="rId4">
            <a:alphaModFix/>
          </a:blip>
          <a:stretch>
            <a:fillRect/>
          </a:stretch>
        </p:blipFill>
        <p:spPr>
          <a:xfrm>
            <a:off x="4264050" y="924288"/>
            <a:ext cx="4639801" cy="4066714"/>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6"/>
        <p:cNvGrpSpPr/>
        <p:nvPr/>
      </p:nvGrpSpPr>
      <p:grpSpPr>
        <a:xfrm>
          <a:off x="0" y="0"/>
          <a:ext cx="0" cy="0"/>
          <a:chOff x="0" y="0"/>
          <a:chExt cx="0" cy="0"/>
        </a:xfrm>
      </p:grpSpPr>
      <p:sp>
        <p:nvSpPr>
          <p:cNvPr id="297" name="Google Shape;297;p35"/>
          <p:cNvSpPr txBox="1">
            <a:spLocks noGrp="1"/>
          </p:cNvSpPr>
          <p:nvPr>
            <p:ph type="title"/>
          </p:nvPr>
        </p:nvSpPr>
        <p:spPr>
          <a:xfrm>
            <a:off x="492300" y="2003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Test Data</a:t>
            </a:r>
            <a:endParaRPr/>
          </a:p>
        </p:txBody>
      </p:sp>
      <p:sp>
        <p:nvSpPr>
          <p:cNvPr id="298" name="Google Shape;298;p35"/>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22</a:t>
            </a:fld>
            <a:endParaRPr/>
          </a:p>
        </p:txBody>
      </p:sp>
      <p:sp>
        <p:nvSpPr>
          <p:cNvPr id="299" name="Google Shape;299;p35"/>
          <p:cNvSpPr txBox="1">
            <a:spLocks noGrp="1"/>
          </p:cNvSpPr>
          <p:nvPr>
            <p:ph type="body" idx="2"/>
          </p:nvPr>
        </p:nvSpPr>
        <p:spPr>
          <a:xfrm>
            <a:off x="4225150" y="762800"/>
            <a:ext cx="3984000" cy="168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EIA Form 860 is a general purpose, publicly available, data set that informs market monitors of generator physical parameters.</a:t>
            </a:r>
            <a:endParaRPr/>
          </a:p>
          <a:p>
            <a:pPr marL="0" lvl="0" indent="0" algn="l" rtl="0">
              <a:spcBef>
                <a:spcPts val="1200"/>
              </a:spcBef>
              <a:spcAft>
                <a:spcPts val="1200"/>
              </a:spcAft>
              <a:buNone/>
            </a:pPr>
            <a:r>
              <a:rPr lang="en"/>
              <a:t>The raw data set is messy, non-standardized, and is a good test set to exhibit some of the functionality of MLang.</a:t>
            </a:r>
            <a:endParaRPr/>
          </a:p>
        </p:txBody>
      </p:sp>
      <p:grpSp>
        <p:nvGrpSpPr>
          <p:cNvPr id="300" name="Google Shape;300;p35"/>
          <p:cNvGrpSpPr/>
          <p:nvPr/>
        </p:nvGrpSpPr>
        <p:grpSpPr>
          <a:xfrm>
            <a:off x="492300" y="2555300"/>
            <a:ext cx="7716947" cy="1273875"/>
            <a:chOff x="492300" y="2589925"/>
            <a:chExt cx="7716947" cy="1273875"/>
          </a:xfrm>
        </p:grpSpPr>
        <p:pic>
          <p:nvPicPr>
            <p:cNvPr id="301" name="Google Shape;301;p35"/>
            <p:cNvPicPr preferRelativeResize="0"/>
            <p:nvPr/>
          </p:nvPicPr>
          <p:blipFill>
            <a:blip r:embed="rId3">
              <a:alphaModFix/>
            </a:blip>
            <a:stretch>
              <a:fillRect/>
            </a:stretch>
          </p:blipFill>
          <p:spPr>
            <a:xfrm>
              <a:off x="492300" y="2589925"/>
              <a:ext cx="7716947" cy="1273875"/>
            </a:xfrm>
            <a:prstGeom prst="rect">
              <a:avLst/>
            </a:prstGeom>
            <a:noFill/>
            <a:ln>
              <a:noFill/>
            </a:ln>
            <a:effectLst>
              <a:outerShdw blurRad="57150" dist="19050" dir="5400000" algn="bl" rotWithShape="0">
                <a:srgbClr val="000000">
                  <a:alpha val="50000"/>
                </a:srgbClr>
              </a:outerShdw>
            </a:effectLst>
          </p:spPr>
        </p:pic>
        <p:sp>
          <p:nvSpPr>
            <p:cNvPr id="302" name="Google Shape;302;p35"/>
            <p:cNvSpPr/>
            <p:nvPr/>
          </p:nvSpPr>
          <p:spPr>
            <a:xfrm>
              <a:off x="7599725" y="3167425"/>
              <a:ext cx="529500" cy="230100"/>
            </a:xfrm>
            <a:prstGeom prst="rect">
              <a:avLst/>
            </a:prstGeom>
            <a:noFill/>
            <a:ln w="1905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03" name="Google Shape;303;p35"/>
            <p:cNvSpPr/>
            <p:nvPr/>
          </p:nvSpPr>
          <p:spPr>
            <a:xfrm>
              <a:off x="7230588" y="2808025"/>
              <a:ext cx="327600" cy="589500"/>
            </a:xfrm>
            <a:prstGeom prst="rect">
              <a:avLst/>
            </a:prstGeom>
            <a:noFill/>
            <a:ln w="1905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04" name="Google Shape;304;p35"/>
            <p:cNvSpPr/>
            <p:nvPr/>
          </p:nvSpPr>
          <p:spPr>
            <a:xfrm>
              <a:off x="6964375" y="3346600"/>
              <a:ext cx="224700" cy="517200"/>
            </a:xfrm>
            <a:prstGeom prst="rect">
              <a:avLst/>
            </a:prstGeom>
            <a:noFill/>
            <a:ln w="19050" cap="flat" cmpd="sng">
              <a:solidFill>
                <a:schemeClr val="accent2"/>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grpSp>
      <p:grpSp>
        <p:nvGrpSpPr>
          <p:cNvPr id="305" name="Google Shape;305;p35"/>
          <p:cNvGrpSpPr/>
          <p:nvPr/>
        </p:nvGrpSpPr>
        <p:grpSpPr>
          <a:xfrm>
            <a:off x="492300" y="657500"/>
            <a:ext cx="3558275" cy="1765100"/>
            <a:chOff x="492300" y="579750"/>
            <a:chExt cx="3558275" cy="1765100"/>
          </a:xfrm>
        </p:grpSpPr>
        <p:pic>
          <p:nvPicPr>
            <p:cNvPr id="306" name="Google Shape;306;p35"/>
            <p:cNvPicPr preferRelativeResize="0"/>
            <p:nvPr/>
          </p:nvPicPr>
          <p:blipFill>
            <a:blip r:embed="rId4">
              <a:alphaModFix/>
            </a:blip>
            <a:stretch>
              <a:fillRect/>
            </a:stretch>
          </p:blipFill>
          <p:spPr>
            <a:xfrm>
              <a:off x="492300" y="657500"/>
              <a:ext cx="3558275" cy="1687350"/>
            </a:xfrm>
            <a:prstGeom prst="rect">
              <a:avLst/>
            </a:prstGeom>
            <a:noFill/>
            <a:ln>
              <a:noFill/>
            </a:ln>
            <a:effectLst>
              <a:outerShdw blurRad="57150" dist="19050" dir="5400000" algn="bl" rotWithShape="0">
                <a:srgbClr val="000000">
                  <a:alpha val="50000"/>
                </a:srgbClr>
              </a:outerShdw>
            </a:effectLst>
          </p:spPr>
        </p:pic>
        <p:sp>
          <p:nvSpPr>
            <p:cNvPr id="307" name="Google Shape;307;p35"/>
            <p:cNvSpPr txBox="1"/>
            <p:nvPr/>
          </p:nvSpPr>
          <p:spPr>
            <a:xfrm>
              <a:off x="1632850" y="579750"/>
              <a:ext cx="2389500" cy="3231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l" rtl="0">
                <a:spcBef>
                  <a:spcPts val="0"/>
                </a:spcBef>
                <a:spcAft>
                  <a:spcPts val="0"/>
                </a:spcAft>
                <a:buNone/>
              </a:pPr>
              <a:r>
                <a:rPr lang="en" sz="900">
                  <a:solidFill>
                    <a:srgbClr val="FF0000"/>
                  </a:solidFill>
                </a:rPr>
                <a:t>https://www.eia.gov/electricity/data/eia860/</a:t>
              </a:r>
              <a:endParaRPr sz="900">
                <a:solidFill>
                  <a:srgbClr val="FF0000"/>
                </a:solidFill>
              </a:endParaRPr>
            </a:p>
          </p:txBody>
        </p:sp>
      </p:grpSp>
      <p:pic>
        <p:nvPicPr>
          <p:cNvPr id="308" name="Google Shape;308;p35"/>
          <p:cNvPicPr preferRelativeResize="0"/>
          <p:nvPr/>
        </p:nvPicPr>
        <p:blipFill>
          <a:blip r:embed="rId5">
            <a:alphaModFix/>
          </a:blip>
          <a:stretch>
            <a:fillRect/>
          </a:stretch>
        </p:blipFill>
        <p:spPr>
          <a:xfrm>
            <a:off x="467550" y="3961874"/>
            <a:ext cx="7716950" cy="1251219"/>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36"/>
          <p:cNvSpPr txBox="1">
            <a:spLocks noGrp="1"/>
          </p:cNvSpPr>
          <p:nvPr>
            <p:ph type="title"/>
          </p:nvPr>
        </p:nvSpPr>
        <p:spPr>
          <a:xfrm>
            <a:off x="457200" y="257826"/>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Transpiler</a:t>
            </a:r>
            <a:endParaRPr dirty="0"/>
          </a:p>
        </p:txBody>
      </p:sp>
      <p:sp>
        <p:nvSpPr>
          <p:cNvPr id="314" name="Google Shape;314;p36"/>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23</a:t>
            </a:fld>
            <a:endParaRPr/>
          </a:p>
        </p:txBody>
      </p:sp>
      <p:pic>
        <p:nvPicPr>
          <p:cNvPr id="315" name="Google Shape;315;p36"/>
          <p:cNvPicPr preferRelativeResize="0"/>
          <p:nvPr/>
        </p:nvPicPr>
        <p:blipFill>
          <a:blip r:embed="rId3">
            <a:alphaModFix/>
          </a:blip>
          <a:stretch>
            <a:fillRect/>
          </a:stretch>
        </p:blipFill>
        <p:spPr>
          <a:xfrm>
            <a:off x="113242" y="751404"/>
            <a:ext cx="4652350" cy="4243492"/>
          </a:xfrm>
          <a:prstGeom prst="rect">
            <a:avLst/>
          </a:prstGeom>
          <a:noFill/>
          <a:ln>
            <a:noFill/>
          </a:ln>
          <a:effectLst>
            <a:outerShdw blurRad="50800" dist="38100" dir="2700000" algn="tl" rotWithShape="0">
              <a:prstClr val="black">
                <a:alpha val="40000"/>
              </a:prstClr>
            </a:outerShdw>
          </a:effectLst>
        </p:spPr>
      </p:pic>
      <p:sp>
        <p:nvSpPr>
          <p:cNvPr id="316" name="Google Shape;316;p36"/>
          <p:cNvSpPr txBox="1">
            <a:spLocks noGrp="1"/>
          </p:cNvSpPr>
          <p:nvPr>
            <p:ph type="body" idx="2"/>
          </p:nvPr>
        </p:nvSpPr>
        <p:spPr>
          <a:xfrm>
            <a:off x="4930272" y="1008373"/>
            <a:ext cx="4047959" cy="3200006"/>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dirty="0"/>
              <a:t>Transpiler (translate + compile) is a </a:t>
            </a:r>
            <a:r>
              <a:rPr lang="en" b="1" dirty="0"/>
              <a:t>source to source compiler</a:t>
            </a:r>
            <a:r>
              <a:rPr lang="en" dirty="0"/>
              <a:t> program.</a:t>
            </a:r>
            <a:endParaRPr dirty="0"/>
          </a:p>
          <a:p>
            <a:pPr marL="0" lvl="0" indent="0" algn="l" rtl="0">
              <a:spcBef>
                <a:spcPts val="1200"/>
              </a:spcBef>
              <a:spcAft>
                <a:spcPts val="0"/>
              </a:spcAft>
              <a:buNone/>
            </a:pPr>
            <a:r>
              <a:rPr lang="en" dirty="0"/>
              <a:t>High-level lang (A) → Transpile → High-level lang (B)</a:t>
            </a:r>
            <a:endParaRPr dirty="0"/>
          </a:p>
          <a:p>
            <a:pPr marL="0" lvl="0" indent="0" algn="l" rtl="0">
              <a:spcBef>
                <a:spcPts val="1200"/>
              </a:spcBef>
              <a:spcAft>
                <a:spcPts val="0"/>
              </a:spcAft>
              <a:buNone/>
            </a:pPr>
            <a:endParaRPr dirty="0"/>
          </a:p>
          <a:p>
            <a:pPr marL="0" lvl="0" indent="0" algn="l" rtl="0">
              <a:spcBef>
                <a:spcPts val="1200"/>
              </a:spcBef>
              <a:spcAft>
                <a:spcPts val="0"/>
              </a:spcAft>
              <a:buNone/>
            </a:pPr>
            <a:endParaRPr dirty="0"/>
          </a:p>
          <a:p>
            <a:pPr marL="0" lvl="0" indent="0" algn="l" rtl="0">
              <a:spcBef>
                <a:spcPts val="1200"/>
              </a:spcBef>
              <a:spcAft>
                <a:spcPts val="0"/>
              </a:spcAft>
              <a:buNone/>
            </a:pPr>
            <a:r>
              <a:rPr lang="en" dirty="0"/>
              <a:t>Igor Khorlo (Syneos Health) has presented on related topics before (SAS Global Forum 2018, 2019): </a:t>
            </a:r>
            <a:endParaRPr dirty="0"/>
          </a:p>
          <a:p>
            <a:pPr marL="457200" lvl="0" indent="-317500" algn="l" rtl="0">
              <a:spcBef>
                <a:spcPts val="1200"/>
              </a:spcBef>
              <a:spcAft>
                <a:spcPts val="0"/>
              </a:spcAft>
              <a:buSzPts val="1400"/>
              <a:buChar char="●"/>
            </a:pPr>
            <a:r>
              <a:rPr lang="en" u="sng" dirty="0"/>
              <a:t>Automating Migration from the SAS Macro Language to Lua</a:t>
            </a:r>
            <a:endParaRPr u="sng" dirty="0"/>
          </a:p>
          <a:p>
            <a:pPr marL="457200" lvl="0" indent="-317500" algn="l" rtl="0">
              <a:spcBef>
                <a:spcPts val="0"/>
              </a:spcBef>
              <a:spcAft>
                <a:spcPts val="0"/>
              </a:spcAft>
              <a:buSzPts val="1400"/>
              <a:buChar char="●"/>
            </a:pPr>
            <a:r>
              <a:rPr lang="en" u="sng" dirty="0"/>
              <a:t>SASLint: A SAS Program Checker</a:t>
            </a:r>
            <a:endParaRPr u="sng" dirty="0"/>
          </a:p>
          <a:p>
            <a:pPr marL="0" lvl="0" indent="0" algn="l" rtl="0">
              <a:spcBef>
                <a:spcPts val="1200"/>
              </a:spcBef>
              <a:spcAft>
                <a:spcPts val="1200"/>
              </a:spcAft>
              <a:buNone/>
            </a:pPr>
            <a:r>
              <a:rPr lang="en" dirty="0"/>
              <a:t>We are extending this concept, but parsing existing logic and translating it </a:t>
            </a:r>
            <a:r>
              <a:rPr lang="en" i="1" dirty="0"/>
              <a:t>into SAS code.</a:t>
            </a:r>
            <a:endParaRPr dirty="0"/>
          </a:p>
        </p:txBody>
      </p:sp>
      <p:sp>
        <p:nvSpPr>
          <p:cNvPr id="317" name="Google Shape;317;p36"/>
          <p:cNvSpPr/>
          <p:nvPr/>
        </p:nvSpPr>
        <p:spPr>
          <a:xfrm>
            <a:off x="5248763" y="2192249"/>
            <a:ext cx="914400" cy="393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Source Sans Pro"/>
                <a:ea typeface="Source Sans Pro"/>
                <a:cs typeface="Source Sans Pro"/>
                <a:sym typeface="Source Sans Pro"/>
              </a:rPr>
              <a:t>MLang</a:t>
            </a:r>
            <a:endParaRPr dirty="0">
              <a:latin typeface="Source Sans Pro"/>
              <a:ea typeface="Source Sans Pro"/>
              <a:cs typeface="Source Sans Pro"/>
              <a:sym typeface="Source Sans Pro"/>
            </a:endParaRPr>
          </a:p>
        </p:txBody>
      </p:sp>
      <p:sp>
        <p:nvSpPr>
          <p:cNvPr id="318" name="Google Shape;318;p36"/>
          <p:cNvSpPr/>
          <p:nvPr/>
        </p:nvSpPr>
        <p:spPr>
          <a:xfrm>
            <a:off x="6420338" y="2192249"/>
            <a:ext cx="1082700" cy="3933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dirty="0">
                <a:latin typeface="Source Sans Pro"/>
                <a:ea typeface="Source Sans Pro"/>
                <a:cs typeface="Source Sans Pro"/>
                <a:sym typeface="Source Sans Pro"/>
              </a:rPr>
              <a:t>Transpiler</a:t>
            </a:r>
            <a:endParaRPr dirty="0">
              <a:latin typeface="Source Sans Pro"/>
              <a:ea typeface="Source Sans Pro"/>
              <a:cs typeface="Source Sans Pro"/>
              <a:sym typeface="Source Sans Pro"/>
            </a:endParaRPr>
          </a:p>
        </p:txBody>
      </p:sp>
      <p:pic>
        <p:nvPicPr>
          <p:cNvPr id="319" name="Google Shape;319;p36"/>
          <p:cNvPicPr preferRelativeResize="0"/>
          <p:nvPr/>
        </p:nvPicPr>
        <p:blipFill>
          <a:blip r:embed="rId4">
            <a:alphaModFix/>
          </a:blip>
          <a:stretch>
            <a:fillRect/>
          </a:stretch>
        </p:blipFill>
        <p:spPr>
          <a:xfrm>
            <a:off x="7756717" y="2097623"/>
            <a:ext cx="776750" cy="582551"/>
          </a:xfrm>
          <a:prstGeom prst="rect">
            <a:avLst/>
          </a:prstGeom>
          <a:noFill/>
          <a:ln>
            <a:noFill/>
          </a:ln>
          <a:effectLst>
            <a:outerShdw blurRad="57150" dist="19050" dir="5400000" algn="bl" rotWithShape="0">
              <a:srgbClr val="000000">
                <a:alpha val="50000"/>
              </a:srgbClr>
            </a:outerShdw>
          </a:effectLst>
        </p:spPr>
      </p:pic>
      <p:cxnSp>
        <p:nvCxnSpPr>
          <p:cNvPr id="320" name="Google Shape;320;p36"/>
          <p:cNvCxnSpPr>
            <a:stCxn id="317" idx="3"/>
            <a:endCxn id="318" idx="1"/>
          </p:cNvCxnSpPr>
          <p:nvPr/>
        </p:nvCxnSpPr>
        <p:spPr>
          <a:xfrm>
            <a:off x="6163163" y="2388899"/>
            <a:ext cx="257175" cy="0"/>
          </a:xfrm>
          <a:prstGeom prst="straightConnector1">
            <a:avLst/>
          </a:prstGeom>
          <a:noFill/>
          <a:ln w="19050" cap="flat" cmpd="sng">
            <a:solidFill>
              <a:schemeClr val="dk2"/>
            </a:solidFill>
            <a:prstDash val="solid"/>
            <a:round/>
            <a:headEnd type="none" w="med" len="med"/>
            <a:tailEnd type="triangle" w="med" len="med"/>
          </a:ln>
        </p:spPr>
      </p:cxnSp>
      <p:cxnSp>
        <p:nvCxnSpPr>
          <p:cNvPr id="321" name="Google Shape;321;p36"/>
          <p:cNvCxnSpPr>
            <a:stCxn id="318" idx="3"/>
            <a:endCxn id="319" idx="1"/>
          </p:cNvCxnSpPr>
          <p:nvPr/>
        </p:nvCxnSpPr>
        <p:spPr>
          <a:xfrm>
            <a:off x="7503038" y="2388899"/>
            <a:ext cx="253679" cy="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5"/>
        <p:cNvGrpSpPr/>
        <p:nvPr/>
      </p:nvGrpSpPr>
      <p:grpSpPr>
        <a:xfrm>
          <a:off x="0" y="0"/>
          <a:ext cx="0" cy="0"/>
          <a:chOff x="0" y="0"/>
          <a:chExt cx="0" cy="0"/>
        </a:xfrm>
      </p:grpSpPr>
      <p:sp>
        <p:nvSpPr>
          <p:cNvPr id="326" name="Google Shape;326;p37"/>
          <p:cNvSpPr txBox="1">
            <a:spLocks noGrp="1"/>
          </p:cNvSpPr>
          <p:nvPr>
            <p:ph type="title"/>
          </p:nvPr>
        </p:nvSpPr>
        <p:spPr>
          <a:xfrm>
            <a:off x="140625" y="971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Sample Program Execution</a:t>
            </a:r>
            <a:endParaRPr/>
          </a:p>
        </p:txBody>
      </p:sp>
      <p:sp>
        <p:nvSpPr>
          <p:cNvPr id="327" name="Google Shape;327;p37"/>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24</a:t>
            </a:fld>
            <a:endParaRPr/>
          </a:p>
        </p:txBody>
      </p:sp>
      <p:grpSp>
        <p:nvGrpSpPr>
          <p:cNvPr id="328" name="Google Shape;328;p37"/>
          <p:cNvGrpSpPr/>
          <p:nvPr/>
        </p:nvGrpSpPr>
        <p:grpSpPr>
          <a:xfrm>
            <a:off x="551925" y="580950"/>
            <a:ext cx="7867600" cy="4553101"/>
            <a:chOff x="590825" y="580950"/>
            <a:chExt cx="7867600" cy="4553101"/>
          </a:xfrm>
        </p:grpSpPr>
        <p:grpSp>
          <p:nvGrpSpPr>
            <p:cNvPr id="329" name="Google Shape;329;p37"/>
            <p:cNvGrpSpPr/>
            <p:nvPr/>
          </p:nvGrpSpPr>
          <p:grpSpPr>
            <a:xfrm>
              <a:off x="590825" y="580950"/>
              <a:ext cx="3712900" cy="4553101"/>
              <a:chOff x="590825" y="580950"/>
              <a:chExt cx="3712900" cy="4553101"/>
            </a:xfrm>
          </p:grpSpPr>
          <p:pic>
            <p:nvPicPr>
              <p:cNvPr id="330" name="Google Shape;330;p37"/>
              <p:cNvPicPr preferRelativeResize="0"/>
              <p:nvPr/>
            </p:nvPicPr>
            <p:blipFill>
              <a:blip r:embed="rId3">
                <a:alphaModFix/>
              </a:blip>
              <a:stretch>
                <a:fillRect/>
              </a:stretch>
            </p:blipFill>
            <p:spPr>
              <a:xfrm>
                <a:off x="590825" y="580950"/>
                <a:ext cx="3712900" cy="4553101"/>
              </a:xfrm>
              <a:prstGeom prst="rect">
                <a:avLst/>
              </a:prstGeom>
              <a:noFill/>
              <a:ln>
                <a:noFill/>
              </a:ln>
              <a:effectLst>
                <a:outerShdw blurRad="57150" dist="19050" dir="5400000" algn="bl" rotWithShape="0">
                  <a:srgbClr val="000000">
                    <a:alpha val="50000"/>
                  </a:srgbClr>
                </a:outerShdw>
              </a:effectLst>
            </p:spPr>
          </p:pic>
          <p:sp>
            <p:nvSpPr>
              <p:cNvPr id="331" name="Google Shape;331;p37"/>
              <p:cNvSpPr/>
              <p:nvPr/>
            </p:nvSpPr>
            <p:spPr>
              <a:xfrm>
                <a:off x="638125" y="1825000"/>
                <a:ext cx="594300" cy="366600"/>
              </a:xfrm>
              <a:prstGeom prst="roundRect">
                <a:avLst>
                  <a:gd name="adj" fmla="val 16667"/>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grpSp>
        <p:pic>
          <p:nvPicPr>
            <p:cNvPr id="332" name="Google Shape;332;p37"/>
            <p:cNvPicPr preferRelativeResize="0"/>
            <p:nvPr/>
          </p:nvPicPr>
          <p:blipFill>
            <a:blip r:embed="rId4">
              <a:alphaModFix/>
            </a:blip>
            <a:stretch>
              <a:fillRect/>
            </a:stretch>
          </p:blipFill>
          <p:spPr>
            <a:xfrm>
              <a:off x="4646614" y="1269677"/>
              <a:ext cx="3811812" cy="3175637"/>
            </a:xfrm>
            <a:prstGeom prst="rect">
              <a:avLst/>
            </a:prstGeom>
            <a:noFill/>
            <a:ln>
              <a:noFill/>
            </a:ln>
            <a:effectLst>
              <a:outerShdw blurRad="57150" dist="19050" dir="5400000" algn="bl" rotWithShape="0">
                <a:srgbClr val="000000">
                  <a:alpha val="50000"/>
                </a:srgbClr>
              </a:outerShdw>
            </a:effectLst>
          </p:spPr>
        </p:pic>
        <p:cxnSp>
          <p:nvCxnSpPr>
            <p:cNvPr id="333" name="Google Shape;333;p37"/>
            <p:cNvCxnSpPr>
              <a:endCxn id="331" idx="3"/>
            </p:cNvCxnSpPr>
            <p:nvPr/>
          </p:nvCxnSpPr>
          <p:spPr>
            <a:xfrm flipH="1">
              <a:off x="1232425" y="1458400"/>
              <a:ext cx="3554400" cy="549900"/>
            </a:xfrm>
            <a:prstGeom prst="straightConnector1">
              <a:avLst/>
            </a:prstGeom>
            <a:noFill/>
            <a:ln w="9525" cap="flat" cmpd="sng">
              <a:solidFill>
                <a:srgbClr val="FF0000"/>
              </a:solidFill>
              <a:prstDash val="solid"/>
              <a:round/>
              <a:headEnd type="none" w="med" len="med"/>
              <a:tailEnd type="triangle" w="med" len="med"/>
            </a:ln>
          </p:spPr>
        </p:cxnSp>
        <p:cxnSp>
          <p:nvCxnSpPr>
            <p:cNvPr id="334" name="Google Shape;334;p37"/>
            <p:cNvCxnSpPr>
              <a:endCxn id="331" idx="3"/>
            </p:cNvCxnSpPr>
            <p:nvPr/>
          </p:nvCxnSpPr>
          <p:spPr>
            <a:xfrm rot="10800000">
              <a:off x="1232425" y="2008300"/>
              <a:ext cx="3537900" cy="988500"/>
            </a:xfrm>
            <a:prstGeom prst="straightConnector1">
              <a:avLst/>
            </a:prstGeom>
            <a:noFill/>
            <a:ln w="9525" cap="flat" cmpd="sng">
              <a:solidFill>
                <a:srgbClr val="FF0000"/>
              </a:solidFill>
              <a:prstDash val="solid"/>
              <a:round/>
              <a:headEnd type="none" w="med" len="med"/>
              <a:tailEnd type="triangle" w="med" len="med"/>
            </a:ln>
          </p:spPr>
        </p:cxnSp>
        <p:cxnSp>
          <p:nvCxnSpPr>
            <p:cNvPr id="335" name="Google Shape;335;p37"/>
            <p:cNvCxnSpPr>
              <a:endCxn id="331" idx="3"/>
            </p:cNvCxnSpPr>
            <p:nvPr/>
          </p:nvCxnSpPr>
          <p:spPr>
            <a:xfrm rot="10800000">
              <a:off x="1232425" y="2008300"/>
              <a:ext cx="3537900" cy="2199300"/>
            </a:xfrm>
            <a:prstGeom prst="straightConnector1">
              <a:avLst/>
            </a:prstGeom>
            <a:noFill/>
            <a:ln w="9525" cap="flat" cmpd="sng">
              <a:solidFill>
                <a:srgbClr val="FF0000"/>
              </a:solidFill>
              <a:prstDash val="solid"/>
              <a:round/>
              <a:headEnd type="none" w="med" len="med"/>
              <a:tailEnd type="triangle" w="med" len="med"/>
            </a:ln>
          </p:spPr>
        </p:cxn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38"/>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Features</a:t>
            </a:r>
            <a:endParaRPr/>
          </a:p>
        </p:txBody>
      </p:sp>
      <p:sp>
        <p:nvSpPr>
          <p:cNvPr id="341" name="Google Shape;341;p38"/>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25</a:t>
            </a:fld>
            <a:endParaRPr/>
          </a:p>
        </p:txBody>
      </p:sp>
      <p:sp>
        <p:nvSpPr>
          <p:cNvPr id="342" name="Google Shape;342;p38"/>
          <p:cNvSpPr txBox="1">
            <a:spLocks noGrp="1"/>
          </p:cNvSpPr>
          <p:nvPr>
            <p:ph type="body" idx="2"/>
          </p:nvPr>
        </p:nvSpPr>
        <p:spPr>
          <a:xfrm>
            <a:off x="6058000" y="1143000"/>
            <a:ext cx="2628900" cy="3703200"/>
          </a:xfrm>
          <a:prstGeom prst="rect">
            <a:avLst/>
          </a:prstGeom>
        </p:spPr>
        <p:txBody>
          <a:bodyPr spcFirstLastPara="1" wrap="square" lIns="0" tIns="0" rIns="0" bIns="0" anchor="ctr" anchorCtr="0">
            <a:noAutofit/>
          </a:bodyPr>
          <a:lstStyle/>
          <a:p>
            <a:pPr marL="457200" lvl="0" indent="-317500" algn="l" rtl="0">
              <a:spcBef>
                <a:spcPts val="0"/>
              </a:spcBef>
              <a:spcAft>
                <a:spcPts val="0"/>
              </a:spcAft>
              <a:buSzPts val="1400"/>
              <a:buChar char="●"/>
            </a:pPr>
            <a:r>
              <a:rPr lang="en"/>
              <a:t>Templated data imports (CSV)</a:t>
            </a:r>
            <a:endParaRPr/>
          </a:p>
          <a:p>
            <a:pPr marL="457200" lvl="0" indent="-317500" algn="l" rtl="0">
              <a:spcBef>
                <a:spcPts val="0"/>
              </a:spcBef>
              <a:spcAft>
                <a:spcPts val="0"/>
              </a:spcAft>
              <a:buSzPts val="1400"/>
              <a:buChar char="●"/>
            </a:pPr>
            <a:r>
              <a:rPr lang="en"/>
              <a:t>Data tagging (XATTR)</a:t>
            </a:r>
            <a:endParaRPr/>
          </a:p>
          <a:p>
            <a:pPr marL="457200" lvl="0" indent="-317500" algn="l" rtl="0">
              <a:spcBef>
                <a:spcPts val="0"/>
              </a:spcBef>
              <a:spcAft>
                <a:spcPts val="0"/>
              </a:spcAft>
              <a:buSzPts val="1400"/>
              <a:buChar char="●"/>
            </a:pPr>
            <a:r>
              <a:rPr lang="en"/>
              <a:t>Searching for tags (SASHELP.VXATTR)</a:t>
            </a:r>
            <a:endParaRPr/>
          </a:p>
          <a:p>
            <a:pPr marL="457200" lvl="0" indent="-317500" algn="l" rtl="0">
              <a:spcBef>
                <a:spcPts val="0"/>
              </a:spcBef>
              <a:spcAft>
                <a:spcPts val="0"/>
              </a:spcAft>
              <a:buSzPts val="1400"/>
              <a:buChar char="●"/>
            </a:pPr>
            <a:r>
              <a:rPr lang="en"/>
              <a:t>Basic data quality checks</a:t>
            </a:r>
            <a:endParaRPr/>
          </a:p>
          <a:p>
            <a:pPr marL="914400" lvl="1" indent="-304800" algn="l" rtl="0">
              <a:spcBef>
                <a:spcPts val="0"/>
              </a:spcBef>
              <a:spcAft>
                <a:spcPts val="0"/>
              </a:spcAft>
              <a:buSzPts val="1200"/>
              <a:buChar char="○"/>
            </a:pPr>
            <a:r>
              <a:rPr lang="en"/>
              <a:t>Invalid chars in asset names?</a:t>
            </a:r>
            <a:endParaRPr/>
          </a:p>
          <a:p>
            <a:pPr marL="914400" lvl="1" indent="-304800" algn="l" rtl="0">
              <a:spcBef>
                <a:spcPts val="0"/>
              </a:spcBef>
              <a:spcAft>
                <a:spcPts val="0"/>
              </a:spcAft>
              <a:buSzPts val="1200"/>
              <a:buChar char="○"/>
            </a:pPr>
            <a:r>
              <a:rPr lang="en"/>
              <a:t>Asset names &gt; 32 chars?</a:t>
            </a:r>
            <a:endParaRPr/>
          </a:p>
          <a:p>
            <a:pPr marL="914400" lvl="1" indent="-304800" algn="l" rtl="0">
              <a:spcBef>
                <a:spcPts val="0"/>
              </a:spcBef>
              <a:spcAft>
                <a:spcPts val="0"/>
              </a:spcAft>
              <a:buSzPts val="1200"/>
              <a:buChar char="○"/>
            </a:pPr>
            <a:r>
              <a:rPr lang="en"/>
              <a:t>Asset name collisions on truncation? </a:t>
            </a:r>
            <a:endParaRPr/>
          </a:p>
          <a:p>
            <a:pPr marL="914400" lvl="1" indent="-304800" algn="l" rtl="0">
              <a:spcBef>
                <a:spcPts val="0"/>
              </a:spcBef>
              <a:spcAft>
                <a:spcPts val="0"/>
              </a:spcAft>
              <a:buSzPts val="1200"/>
              <a:buChar char="○"/>
            </a:pPr>
            <a:r>
              <a:rPr lang="en"/>
              <a:t>Asset names shadow existing SAS keywords?</a:t>
            </a:r>
            <a:endParaRPr/>
          </a:p>
        </p:txBody>
      </p:sp>
      <p:pic>
        <p:nvPicPr>
          <p:cNvPr id="343" name="Google Shape;343;p38"/>
          <p:cNvPicPr preferRelativeResize="0"/>
          <p:nvPr/>
        </p:nvPicPr>
        <p:blipFill>
          <a:blip r:embed="rId3">
            <a:alphaModFix/>
          </a:blip>
          <a:stretch>
            <a:fillRect/>
          </a:stretch>
        </p:blipFill>
        <p:spPr>
          <a:xfrm>
            <a:off x="457200" y="2504244"/>
            <a:ext cx="5208926" cy="1073405"/>
          </a:xfrm>
          <a:prstGeom prst="rect">
            <a:avLst/>
          </a:prstGeom>
          <a:noFill/>
          <a:ln>
            <a:noFill/>
          </a:ln>
        </p:spPr>
      </p:pic>
      <p:pic>
        <p:nvPicPr>
          <p:cNvPr id="344" name="Google Shape;344;p38"/>
          <p:cNvPicPr preferRelativeResize="0"/>
          <p:nvPr/>
        </p:nvPicPr>
        <p:blipFill>
          <a:blip r:embed="rId4">
            <a:alphaModFix/>
          </a:blip>
          <a:stretch>
            <a:fillRect/>
          </a:stretch>
        </p:blipFill>
        <p:spPr>
          <a:xfrm>
            <a:off x="457200" y="3781000"/>
            <a:ext cx="5208926" cy="1065075"/>
          </a:xfrm>
          <a:prstGeom prst="rect">
            <a:avLst/>
          </a:prstGeom>
          <a:noFill/>
          <a:ln>
            <a:noFill/>
          </a:ln>
        </p:spPr>
      </p:pic>
      <p:pic>
        <p:nvPicPr>
          <p:cNvPr id="345" name="Google Shape;345;p38"/>
          <p:cNvPicPr preferRelativeResize="0"/>
          <p:nvPr/>
        </p:nvPicPr>
        <p:blipFill>
          <a:blip r:embed="rId5">
            <a:alphaModFix/>
          </a:blip>
          <a:stretch>
            <a:fillRect/>
          </a:stretch>
        </p:blipFill>
        <p:spPr>
          <a:xfrm>
            <a:off x="457200" y="1336687"/>
            <a:ext cx="5208926" cy="1015163"/>
          </a:xfrm>
          <a:prstGeom prst="rect">
            <a:avLst/>
          </a:prstGeom>
          <a:noFill/>
          <a:ln>
            <a:noFill/>
          </a:ln>
        </p:spPr>
      </p:pic>
      <p:cxnSp>
        <p:nvCxnSpPr>
          <p:cNvPr id="346" name="Google Shape;346;p38"/>
          <p:cNvCxnSpPr>
            <a:endCxn id="345" idx="3"/>
          </p:cNvCxnSpPr>
          <p:nvPr/>
        </p:nvCxnSpPr>
        <p:spPr>
          <a:xfrm rot="10800000">
            <a:off x="5666126" y="1844268"/>
            <a:ext cx="547500" cy="287100"/>
          </a:xfrm>
          <a:prstGeom prst="straightConnector1">
            <a:avLst/>
          </a:prstGeom>
          <a:noFill/>
          <a:ln w="19050" cap="flat" cmpd="sng">
            <a:solidFill>
              <a:schemeClr val="dk2"/>
            </a:solidFill>
            <a:prstDash val="solid"/>
            <a:round/>
            <a:headEnd type="none" w="med" len="med"/>
            <a:tailEnd type="triangle" w="med" len="med"/>
          </a:ln>
        </p:spPr>
      </p:cxnSp>
      <p:cxnSp>
        <p:nvCxnSpPr>
          <p:cNvPr id="347" name="Google Shape;347;p38"/>
          <p:cNvCxnSpPr>
            <a:endCxn id="343" idx="3"/>
          </p:cNvCxnSpPr>
          <p:nvPr/>
        </p:nvCxnSpPr>
        <p:spPr>
          <a:xfrm flipH="1">
            <a:off x="5666126" y="2902346"/>
            <a:ext cx="553500" cy="138600"/>
          </a:xfrm>
          <a:prstGeom prst="straightConnector1">
            <a:avLst/>
          </a:prstGeom>
          <a:noFill/>
          <a:ln w="19050" cap="flat" cmpd="sng">
            <a:solidFill>
              <a:schemeClr val="dk2"/>
            </a:solidFill>
            <a:prstDash val="solid"/>
            <a:round/>
            <a:headEnd type="none" w="med" len="med"/>
            <a:tailEnd type="triangle" w="med" len="med"/>
          </a:ln>
        </p:spPr>
      </p:cxnSp>
      <p:cxnSp>
        <p:nvCxnSpPr>
          <p:cNvPr id="348" name="Google Shape;348;p38"/>
          <p:cNvCxnSpPr>
            <a:endCxn id="344" idx="3"/>
          </p:cNvCxnSpPr>
          <p:nvPr/>
        </p:nvCxnSpPr>
        <p:spPr>
          <a:xfrm flipH="1">
            <a:off x="5666126" y="2914937"/>
            <a:ext cx="559800" cy="1398600"/>
          </a:xfrm>
          <a:prstGeom prst="straightConnector1">
            <a:avLst/>
          </a:prstGeom>
          <a:noFill/>
          <a:ln w="19050" cap="flat" cmpd="sng">
            <a:solidFill>
              <a:schemeClr val="dk2"/>
            </a:solidFill>
            <a:prstDash val="solid"/>
            <a:round/>
            <a:headEnd type="none" w="med" len="med"/>
            <a:tailEnd type="triangle" w="med" len="med"/>
          </a:ln>
        </p:spPr>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39"/>
          <p:cNvSpPr txBox="1">
            <a:spLocks noGrp="1"/>
          </p:cNvSpPr>
          <p:nvPr>
            <p:ph type="title"/>
          </p:nvPr>
        </p:nvSpPr>
        <p:spPr>
          <a:xfrm>
            <a:off x="457200" y="2400308"/>
            <a:ext cx="8229600" cy="914400"/>
          </a:xfrm>
          <a:prstGeom prst="rect">
            <a:avLst/>
          </a:prstGeom>
        </p:spPr>
        <p:txBody>
          <a:bodyPr spcFirstLastPara="1" wrap="square" lIns="0" tIns="0" rIns="0" bIns="0" anchor="ctr" anchorCtr="0">
            <a:noAutofit/>
          </a:bodyPr>
          <a:lstStyle/>
          <a:p>
            <a:pPr marL="0" lvl="0" indent="0" algn="ctr" rtl="0">
              <a:spcBef>
                <a:spcPts val="0"/>
              </a:spcBef>
              <a:spcAft>
                <a:spcPts val="0"/>
              </a:spcAft>
              <a:buNone/>
            </a:pPr>
            <a:r>
              <a:rPr lang="en"/>
              <a:t>Conclusion and Future Work</a:t>
            </a:r>
            <a:endParaRPr/>
          </a:p>
        </p:txBody>
      </p:sp>
      <p:sp>
        <p:nvSpPr>
          <p:cNvPr id="354" name="Google Shape;354;p39"/>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solidFill>
                  <a:schemeClr val="lt1"/>
                </a:solidFill>
              </a:rPr>
              <a:t>26</a:t>
            </a:fld>
            <a:endParaRPr>
              <a:solidFill>
                <a:schemeClr val="lt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40"/>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Limitations</a:t>
            </a:r>
            <a:endParaRPr/>
          </a:p>
        </p:txBody>
      </p:sp>
      <p:sp>
        <p:nvSpPr>
          <p:cNvPr id="360" name="Google Shape;360;p40"/>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27</a:t>
            </a:fld>
            <a:endParaRPr/>
          </a:p>
        </p:txBody>
      </p:sp>
      <p:sp>
        <p:nvSpPr>
          <p:cNvPr id="361" name="Google Shape;361;p40"/>
          <p:cNvSpPr txBox="1">
            <a:spLocks noGrp="1"/>
          </p:cNvSpPr>
          <p:nvPr>
            <p:ph type="body" idx="2"/>
          </p:nvPr>
        </p:nvSpPr>
        <p:spPr>
          <a:xfrm>
            <a:off x="304775" y="1430975"/>
            <a:ext cx="8343900" cy="3598200"/>
          </a:xfrm>
          <a:prstGeom prst="rect">
            <a:avLst/>
          </a:prstGeom>
        </p:spPr>
        <p:txBody>
          <a:bodyPr spcFirstLastPara="1" wrap="square" lIns="0" tIns="0" rIns="0" bIns="0" anchor="t" anchorCtr="0">
            <a:noAutofit/>
          </a:bodyPr>
          <a:lstStyle/>
          <a:p>
            <a:pPr marL="457200" lvl="0" indent="-342900" algn="l" rtl="0">
              <a:spcBef>
                <a:spcPts val="0"/>
              </a:spcBef>
              <a:spcAft>
                <a:spcPts val="0"/>
              </a:spcAft>
              <a:buSzPts val="1800"/>
              <a:buChar char="●"/>
            </a:pPr>
            <a:r>
              <a:rPr lang="en" sz="1800"/>
              <a:t>The POC, currently, supports only a small number of functions</a:t>
            </a:r>
            <a:endParaRPr sz="1800"/>
          </a:p>
          <a:p>
            <a:pPr marL="914400" lvl="1" indent="-342900" algn="l" rtl="0">
              <a:spcBef>
                <a:spcPts val="0"/>
              </a:spcBef>
              <a:spcAft>
                <a:spcPts val="0"/>
              </a:spcAft>
              <a:buSzPts val="1800"/>
              <a:buChar char="○"/>
            </a:pPr>
            <a:r>
              <a:rPr lang="en" sz="1800"/>
              <a:t>Data imports</a:t>
            </a:r>
            <a:endParaRPr sz="1800"/>
          </a:p>
          <a:p>
            <a:pPr marL="914400" lvl="1" indent="-342900" algn="l" rtl="0">
              <a:spcBef>
                <a:spcPts val="0"/>
              </a:spcBef>
              <a:spcAft>
                <a:spcPts val="0"/>
              </a:spcAft>
              <a:buSzPts val="1800"/>
              <a:buChar char="○"/>
            </a:pPr>
            <a:r>
              <a:rPr lang="en" sz="1800"/>
              <a:t>Basic data quality checks</a:t>
            </a:r>
            <a:endParaRPr sz="1800"/>
          </a:p>
          <a:p>
            <a:pPr marL="914400" lvl="1" indent="-342900" algn="l" rtl="0">
              <a:spcBef>
                <a:spcPts val="0"/>
              </a:spcBef>
              <a:spcAft>
                <a:spcPts val="0"/>
              </a:spcAft>
              <a:buSzPts val="1800"/>
              <a:buChar char="○"/>
            </a:pPr>
            <a:r>
              <a:rPr lang="en" sz="1800"/>
              <a:t>Data set and field tagging</a:t>
            </a:r>
            <a:endParaRPr sz="1800"/>
          </a:p>
          <a:p>
            <a:pPr marL="914400" lvl="1" indent="-342900" algn="l" rtl="0">
              <a:spcBef>
                <a:spcPts val="0"/>
              </a:spcBef>
              <a:spcAft>
                <a:spcPts val="0"/>
              </a:spcAft>
              <a:buSzPts val="1800"/>
              <a:buChar char="○"/>
            </a:pPr>
            <a:r>
              <a:rPr lang="en" sz="1800"/>
              <a:t>Searching by tags</a:t>
            </a:r>
            <a:endParaRPr sz="1800"/>
          </a:p>
          <a:p>
            <a:pPr marL="457200" lvl="0" indent="-342900" algn="l" rtl="0">
              <a:spcBef>
                <a:spcPts val="0"/>
              </a:spcBef>
              <a:spcAft>
                <a:spcPts val="0"/>
              </a:spcAft>
              <a:buSzPts val="1800"/>
              <a:buChar char="●"/>
            </a:pPr>
            <a:r>
              <a:rPr lang="en" sz="1800"/>
              <a:t>The transpiler exists entirely as pre-processor directives</a:t>
            </a:r>
            <a:endParaRPr sz="1800"/>
          </a:p>
          <a:p>
            <a:pPr marL="914400" lvl="1" indent="-342900" algn="l" rtl="0">
              <a:spcBef>
                <a:spcPts val="0"/>
              </a:spcBef>
              <a:spcAft>
                <a:spcPts val="0"/>
              </a:spcAft>
              <a:buSzPts val="1800"/>
              <a:buChar char="○"/>
            </a:pPr>
            <a:r>
              <a:rPr lang="en" sz="1800"/>
              <a:t>Use of the SAS code requires manual intervention</a:t>
            </a:r>
            <a:endParaRPr sz="1800"/>
          </a:p>
          <a:p>
            <a:pPr marL="914400" lvl="1" indent="-342900" algn="l" rtl="0">
              <a:spcBef>
                <a:spcPts val="0"/>
              </a:spcBef>
              <a:spcAft>
                <a:spcPts val="0"/>
              </a:spcAft>
              <a:buSzPts val="1800"/>
              <a:buChar char="○"/>
            </a:pPr>
            <a:r>
              <a:rPr lang="en" sz="1800"/>
              <a:t>No syntax highlighting or LSP support</a:t>
            </a:r>
            <a:endParaRPr sz="1800"/>
          </a:p>
          <a:p>
            <a:pPr marL="457200" lvl="0" indent="-342900" algn="l" rtl="0">
              <a:spcBef>
                <a:spcPts val="0"/>
              </a:spcBef>
              <a:spcAft>
                <a:spcPts val="0"/>
              </a:spcAft>
              <a:buSzPts val="1800"/>
              <a:buChar char="●"/>
            </a:pPr>
            <a:r>
              <a:rPr lang="en" sz="1800"/>
              <a:t>Must be invoked from a command-line, which isn’t very non-developer friendly</a:t>
            </a:r>
            <a:endParaRPr sz="1800"/>
          </a:p>
          <a:p>
            <a:pPr marL="914400" lvl="1" indent="-342900" algn="l" rtl="0">
              <a:spcBef>
                <a:spcPts val="0"/>
              </a:spcBef>
              <a:spcAft>
                <a:spcPts val="0"/>
              </a:spcAft>
              <a:buSzPts val="1800"/>
              <a:buChar char="○"/>
            </a:pPr>
            <a:r>
              <a:rPr lang="en" sz="1800"/>
              <a:t>Run the transpiler program, read the output logs, copy the files, upload them to SODA, etc.</a:t>
            </a:r>
            <a:endParaRPr sz="18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65"/>
        <p:cNvGrpSpPr/>
        <p:nvPr/>
      </p:nvGrpSpPr>
      <p:grpSpPr>
        <a:xfrm>
          <a:off x="0" y="0"/>
          <a:ext cx="0" cy="0"/>
          <a:chOff x="0" y="0"/>
          <a:chExt cx="0" cy="0"/>
        </a:xfrm>
      </p:grpSpPr>
      <p:sp>
        <p:nvSpPr>
          <p:cNvPr id="366" name="Google Shape;366;p41"/>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Future Work</a:t>
            </a:r>
            <a:endParaRPr/>
          </a:p>
        </p:txBody>
      </p:sp>
      <p:sp>
        <p:nvSpPr>
          <p:cNvPr id="367" name="Google Shape;367;p41"/>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28</a:t>
            </a:fld>
            <a:endParaRPr/>
          </a:p>
        </p:txBody>
      </p:sp>
      <p:sp>
        <p:nvSpPr>
          <p:cNvPr id="368" name="Google Shape;368;p41"/>
          <p:cNvSpPr txBox="1">
            <a:spLocks noGrp="1"/>
          </p:cNvSpPr>
          <p:nvPr>
            <p:ph type="body" idx="2"/>
          </p:nvPr>
        </p:nvSpPr>
        <p:spPr>
          <a:xfrm>
            <a:off x="342775" y="1430975"/>
            <a:ext cx="8343900" cy="3598200"/>
          </a:xfrm>
          <a:prstGeom prst="rect">
            <a:avLst/>
          </a:prstGeom>
        </p:spPr>
        <p:txBody>
          <a:bodyPr spcFirstLastPara="1" wrap="square" lIns="0" tIns="0" rIns="0" bIns="0" anchor="t" anchorCtr="0">
            <a:noAutofit/>
          </a:bodyPr>
          <a:lstStyle/>
          <a:p>
            <a:pPr marL="457200" lvl="0" indent="-342900" algn="l" rtl="0">
              <a:spcBef>
                <a:spcPts val="0"/>
              </a:spcBef>
              <a:spcAft>
                <a:spcPts val="0"/>
              </a:spcAft>
              <a:buSzPts val="1800"/>
              <a:buChar char="●"/>
            </a:pPr>
            <a:r>
              <a:rPr lang="en" sz="1800"/>
              <a:t>Develop support for more varied and complex market monitoring use cases</a:t>
            </a:r>
            <a:endParaRPr sz="1800"/>
          </a:p>
          <a:p>
            <a:pPr marL="914400" lvl="1" indent="-330200" algn="l" rtl="0">
              <a:spcBef>
                <a:spcPts val="0"/>
              </a:spcBef>
              <a:spcAft>
                <a:spcPts val="0"/>
              </a:spcAft>
              <a:buSzPts val="1600"/>
              <a:buChar char="○"/>
            </a:pPr>
            <a:r>
              <a:rPr lang="en" sz="1600"/>
              <a:t>Calculating market metrics (e.g. HHI) from language keywords</a:t>
            </a:r>
            <a:endParaRPr sz="1600"/>
          </a:p>
          <a:p>
            <a:pPr marL="914400" lvl="1" indent="-330200" algn="l" rtl="0">
              <a:spcBef>
                <a:spcPts val="0"/>
              </a:spcBef>
              <a:spcAft>
                <a:spcPts val="0"/>
              </a:spcAft>
              <a:buSzPts val="1600"/>
              <a:buChar char="○"/>
            </a:pPr>
            <a:r>
              <a:rPr lang="en" sz="1600"/>
              <a:t>Map generation through SGMAP</a:t>
            </a:r>
            <a:endParaRPr sz="1600"/>
          </a:p>
          <a:p>
            <a:pPr marL="457200" lvl="0" indent="-342900" algn="l" rtl="0">
              <a:spcBef>
                <a:spcPts val="0"/>
              </a:spcBef>
              <a:spcAft>
                <a:spcPts val="0"/>
              </a:spcAft>
              <a:buSzPts val="1800"/>
              <a:buChar char="●"/>
            </a:pPr>
            <a:r>
              <a:rPr lang="en" sz="1800"/>
              <a:t>Including more complex data quality and semantic checks</a:t>
            </a:r>
            <a:endParaRPr sz="1800"/>
          </a:p>
          <a:p>
            <a:pPr marL="457200" lvl="0" indent="-342900" algn="l" rtl="0">
              <a:spcBef>
                <a:spcPts val="0"/>
              </a:spcBef>
              <a:spcAft>
                <a:spcPts val="0"/>
              </a:spcAft>
              <a:buSzPts val="1800"/>
              <a:buChar char="●"/>
            </a:pPr>
            <a:r>
              <a:rPr lang="en" sz="1800"/>
              <a:t>User experience (UX) support</a:t>
            </a:r>
            <a:endParaRPr sz="1800"/>
          </a:p>
          <a:p>
            <a:pPr marL="914400" lvl="1" indent="-330200" algn="l" rtl="0">
              <a:spcBef>
                <a:spcPts val="0"/>
              </a:spcBef>
              <a:spcAft>
                <a:spcPts val="0"/>
              </a:spcAft>
              <a:buSzPts val="1600"/>
              <a:buChar char="○"/>
            </a:pPr>
            <a:r>
              <a:rPr lang="en" sz="1600"/>
              <a:t>Language Server Protocol (LSP)</a:t>
            </a:r>
            <a:endParaRPr sz="1600"/>
          </a:p>
          <a:p>
            <a:pPr marL="914400" lvl="1" indent="-330200" algn="l" rtl="0">
              <a:spcBef>
                <a:spcPts val="0"/>
              </a:spcBef>
              <a:spcAft>
                <a:spcPts val="0"/>
              </a:spcAft>
              <a:buSzPts val="1600"/>
              <a:buChar char="○"/>
            </a:pPr>
            <a:r>
              <a:rPr lang="en" sz="1600"/>
              <a:t>Possibly SASLint</a:t>
            </a:r>
            <a:r>
              <a:rPr lang="en" sz="1600" b="1" baseline="30000"/>
              <a:t>1</a:t>
            </a:r>
            <a:r>
              <a:rPr lang="en" sz="1600" b="1"/>
              <a:t> </a:t>
            </a:r>
            <a:r>
              <a:rPr lang="en" sz="1600"/>
              <a:t>integration</a:t>
            </a:r>
            <a:endParaRPr sz="1600"/>
          </a:p>
          <a:p>
            <a:pPr marL="457200" lvl="0" indent="-342900" algn="l" rtl="0">
              <a:spcBef>
                <a:spcPts val="0"/>
              </a:spcBef>
              <a:spcAft>
                <a:spcPts val="0"/>
              </a:spcAft>
              <a:buSzPts val="1800"/>
              <a:buChar char="●"/>
            </a:pPr>
            <a:r>
              <a:rPr lang="en" sz="1800"/>
              <a:t>Automatic execution in a SAS runtime environment</a:t>
            </a:r>
            <a:endParaRPr sz="1800"/>
          </a:p>
        </p:txBody>
      </p:sp>
      <p:sp>
        <p:nvSpPr>
          <p:cNvPr id="369" name="Google Shape;369;p41"/>
          <p:cNvSpPr txBox="1"/>
          <p:nvPr/>
        </p:nvSpPr>
        <p:spPr>
          <a:xfrm>
            <a:off x="2398300" y="5164675"/>
            <a:ext cx="6228600" cy="423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b="1" baseline="30000">
                <a:solidFill>
                  <a:schemeClr val="dk2"/>
                </a:solidFill>
                <a:latin typeface="Source Sans Pro"/>
                <a:ea typeface="Source Sans Pro"/>
                <a:cs typeface="Source Sans Pro"/>
                <a:sym typeface="Source Sans Pro"/>
              </a:rPr>
              <a:t>1</a:t>
            </a:r>
            <a:r>
              <a:rPr lang="en" b="1">
                <a:solidFill>
                  <a:schemeClr val="dk2"/>
                </a:solidFill>
                <a:latin typeface="Source Sans Pro"/>
                <a:ea typeface="Source Sans Pro"/>
                <a:cs typeface="Source Sans Pro"/>
                <a:sym typeface="Source Sans Pro"/>
              </a:rPr>
              <a:t> </a:t>
            </a:r>
            <a:r>
              <a:rPr lang="en" sz="1300">
                <a:solidFill>
                  <a:schemeClr val="dk2"/>
                </a:solidFill>
                <a:latin typeface="Source Sans Pro"/>
                <a:ea typeface="Source Sans Pro"/>
                <a:cs typeface="Source Sans Pro"/>
                <a:sym typeface="Source Sans Pro"/>
              </a:rPr>
              <a:t>I. Khorlo, </a:t>
            </a:r>
            <a:r>
              <a:rPr lang="en" sz="1300" b="1" baseline="30000">
                <a:solidFill>
                  <a:schemeClr val="dk2"/>
                </a:solidFill>
                <a:latin typeface="Source Sans Pro"/>
                <a:ea typeface="Source Sans Pro"/>
                <a:cs typeface="Source Sans Pro"/>
                <a:sym typeface="Source Sans Pro"/>
              </a:rPr>
              <a:t> </a:t>
            </a:r>
            <a:r>
              <a:rPr lang="en" sz="1300">
                <a:solidFill>
                  <a:schemeClr val="dk2"/>
                </a:solidFill>
                <a:latin typeface="Source Sans Pro"/>
                <a:ea typeface="Source Sans Pro"/>
                <a:cs typeface="Source Sans Pro"/>
                <a:sym typeface="Source Sans Pro"/>
              </a:rPr>
              <a:t>https://support.sas.com/resources/papers/proceedings18/2543-2018.pdf</a:t>
            </a:r>
            <a:endParaRPr sz="1300">
              <a:solidFill>
                <a:schemeClr val="dk2"/>
              </a:solidFill>
              <a:latin typeface="Source Sans Pro"/>
              <a:ea typeface="Source Sans Pro"/>
              <a:cs typeface="Source Sans Pro"/>
              <a:sym typeface="Source Sans Pr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42"/>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Market Metrics (Development in Progress)</a:t>
            </a:r>
            <a:endParaRPr/>
          </a:p>
        </p:txBody>
      </p:sp>
      <p:sp>
        <p:nvSpPr>
          <p:cNvPr id="375" name="Google Shape;375;p42"/>
          <p:cNvSpPr txBox="1">
            <a:spLocks noGrp="1"/>
          </p:cNvSpPr>
          <p:nvPr>
            <p:ph type="body" idx="2"/>
          </p:nvPr>
        </p:nvSpPr>
        <p:spPr>
          <a:xfrm>
            <a:off x="4800600" y="1371600"/>
            <a:ext cx="3886200" cy="2391900"/>
          </a:xfrm>
          <a:prstGeom prst="rect">
            <a:avLst/>
          </a:prstGeom>
        </p:spPr>
        <p:txBody>
          <a:bodyPr spcFirstLastPara="1" wrap="square" lIns="0" tIns="0" rIns="0" bIns="0" anchor="t" anchorCtr="0">
            <a:noAutofit/>
          </a:bodyPr>
          <a:lstStyle/>
          <a:p>
            <a:pPr marL="457200" lvl="0" indent="-317500" algn="l" rtl="0">
              <a:spcBef>
                <a:spcPts val="0"/>
              </a:spcBef>
              <a:spcAft>
                <a:spcPts val="0"/>
              </a:spcAft>
              <a:buSzPts val="1400"/>
              <a:buChar char="●"/>
            </a:pPr>
            <a:r>
              <a:rPr lang="en"/>
              <a:t>Herfindahl-Hirschman Index (HHI) is a standard measure of market concentration</a:t>
            </a:r>
            <a:endParaRPr/>
          </a:p>
          <a:p>
            <a:pPr marL="914400" lvl="1" indent="-304800" algn="l" rtl="0">
              <a:spcBef>
                <a:spcPts val="0"/>
              </a:spcBef>
              <a:spcAft>
                <a:spcPts val="0"/>
              </a:spcAft>
              <a:buSzPts val="1200"/>
              <a:buChar char="○"/>
            </a:pPr>
            <a:r>
              <a:rPr lang="en"/>
              <a:t>Inversely proportional to competitiveness</a:t>
            </a:r>
            <a:endParaRPr/>
          </a:p>
          <a:p>
            <a:pPr marL="914400" lvl="1" indent="-304800" algn="l" rtl="0">
              <a:spcBef>
                <a:spcPts val="0"/>
              </a:spcBef>
              <a:spcAft>
                <a:spcPts val="0"/>
              </a:spcAft>
              <a:buSzPts val="1200"/>
              <a:buChar char="○"/>
            </a:pPr>
            <a:r>
              <a:rPr lang="en"/>
              <a:t>HHI &lt; 1000, unconcentrated market</a:t>
            </a:r>
            <a:endParaRPr/>
          </a:p>
          <a:p>
            <a:pPr marL="914400" lvl="1" indent="-304800" algn="l" rtl="0">
              <a:spcBef>
                <a:spcPts val="0"/>
              </a:spcBef>
              <a:spcAft>
                <a:spcPts val="0"/>
              </a:spcAft>
              <a:buSzPts val="1200"/>
              <a:buChar char="○"/>
            </a:pPr>
            <a:r>
              <a:rPr lang="en"/>
              <a:t>HHI &gt; 10,000, monopoly</a:t>
            </a:r>
            <a:endParaRPr/>
          </a:p>
          <a:p>
            <a:pPr marL="457200" lvl="0" indent="-317500" algn="l" rtl="0">
              <a:spcBef>
                <a:spcPts val="0"/>
              </a:spcBef>
              <a:spcAft>
                <a:spcPts val="0"/>
              </a:spcAft>
              <a:buSzPts val="1400"/>
              <a:buChar char="●"/>
            </a:pPr>
            <a:r>
              <a:rPr lang="en"/>
              <a:t>Standard equation, but how you define the inputs to the equation can vary </a:t>
            </a:r>
            <a:endParaRPr/>
          </a:p>
          <a:p>
            <a:pPr marL="457200" lvl="0" indent="-317500" algn="l" rtl="0">
              <a:spcBef>
                <a:spcPts val="0"/>
              </a:spcBef>
              <a:spcAft>
                <a:spcPts val="0"/>
              </a:spcAft>
              <a:buSzPts val="1400"/>
              <a:buChar char="●"/>
            </a:pPr>
            <a:r>
              <a:rPr lang="en"/>
              <a:t>MLang will be able to compute HHI based upon user-defined input variable</a:t>
            </a:r>
            <a:endParaRPr/>
          </a:p>
          <a:p>
            <a:pPr marL="914400" lvl="1" indent="-304800" algn="l" rtl="0">
              <a:spcBef>
                <a:spcPts val="0"/>
              </a:spcBef>
              <a:spcAft>
                <a:spcPts val="0"/>
              </a:spcAft>
              <a:buSzPts val="1200"/>
              <a:buChar char="○"/>
            </a:pPr>
            <a:r>
              <a:rPr lang="en"/>
              <a:t>This example uses “nameplate capacity”</a:t>
            </a:r>
            <a:endParaRPr/>
          </a:p>
        </p:txBody>
      </p:sp>
      <p:sp>
        <p:nvSpPr>
          <p:cNvPr id="376" name="Google Shape;376;p42"/>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29</a:t>
            </a:fld>
            <a:endParaRPr/>
          </a:p>
        </p:txBody>
      </p:sp>
      <p:pic>
        <p:nvPicPr>
          <p:cNvPr id="377" name="Google Shape;377;p42"/>
          <p:cNvPicPr preferRelativeResize="0"/>
          <p:nvPr/>
        </p:nvPicPr>
        <p:blipFill>
          <a:blip r:embed="rId3">
            <a:alphaModFix/>
          </a:blip>
          <a:stretch>
            <a:fillRect/>
          </a:stretch>
        </p:blipFill>
        <p:spPr>
          <a:xfrm>
            <a:off x="257175" y="1371600"/>
            <a:ext cx="4314825" cy="3228975"/>
          </a:xfrm>
          <a:prstGeom prst="rect">
            <a:avLst/>
          </a:prstGeom>
          <a:noFill/>
          <a:ln>
            <a:noFill/>
          </a:ln>
          <a:effectLst>
            <a:outerShdw blurRad="57150" dist="19050" dir="5400000" algn="bl" rotWithShape="0">
              <a:srgbClr val="000000">
                <a:alpha val="50000"/>
              </a:srgbClr>
            </a:outerShdw>
          </a:effectLst>
        </p:spPr>
      </p:pic>
      <p:pic>
        <p:nvPicPr>
          <p:cNvPr id="378" name="Google Shape;378;p42"/>
          <p:cNvPicPr preferRelativeResize="0"/>
          <p:nvPr/>
        </p:nvPicPr>
        <p:blipFill>
          <a:blip r:embed="rId4">
            <a:alphaModFix/>
          </a:blip>
          <a:stretch>
            <a:fillRect/>
          </a:stretch>
        </p:blipFill>
        <p:spPr>
          <a:xfrm>
            <a:off x="5845438" y="3827900"/>
            <a:ext cx="1796500" cy="428400"/>
          </a:xfrm>
          <a:prstGeom prst="rect">
            <a:avLst/>
          </a:prstGeom>
          <a:noFill/>
          <a:ln>
            <a:noFill/>
          </a:ln>
          <a:effectLst>
            <a:outerShdw blurRad="57150" dist="19050" dir="5400000" algn="bl" rotWithShape="0">
              <a:srgbClr val="000000">
                <a:alpha val="50000"/>
              </a:srgbClr>
            </a:outerShdw>
          </a:effectLst>
        </p:spPr>
      </p:pic>
      <p:sp>
        <p:nvSpPr>
          <p:cNvPr id="379" name="Google Shape;379;p42"/>
          <p:cNvSpPr txBox="1"/>
          <p:nvPr/>
        </p:nvSpPr>
        <p:spPr>
          <a:xfrm>
            <a:off x="1544850" y="4873850"/>
            <a:ext cx="6054300" cy="519000"/>
          </a:xfrm>
          <a:prstGeom prst="rect">
            <a:avLst/>
          </a:prstGeom>
          <a:noFill/>
          <a:ln w="9525" cap="flat" cmpd="sng">
            <a:solidFill>
              <a:srgbClr val="000000"/>
            </a:solidFill>
            <a:prstDash val="solid"/>
            <a:round/>
            <a:headEnd type="none" w="sm" len="sm"/>
            <a:tailEnd type="none" w="sm" len="sm"/>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700" dirty="0">
                <a:latin typeface="Courier New"/>
                <a:ea typeface="Courier New"/>
                <a:cs typeface="Courier New"/>
                <a:sym typeface="Courier New"/>
              </a:rPr>
              <a:t>CREATE DATASET NAMEPLATE_HHI FROM HHI(PLANTS, NAMEPLATE_CAP);</a:t>
            </a:r>
            <a:endParaRPr sz="700" dirty="0">
              <a:latin typeface="Courier New"/>
              <a:ea typeface="Courier New"/>
              <a:cs typeface="Courier New"/>
              <a:sym typeface="Courier New"/>
            </a:endParaRPr>
          </a:p>
          <a:p>
            <a:pPr marL="0" lvl="0" indent="0" algn="l" rtl="0">
              <a:lnSpc>
                <a:spcPct val="115000"/>
              </a:lnSpc>
              <a:spcBef>
                <a:spcPts val="800"/>
              </a:spcBef>
              <a:spcAft>
                <a:spcPts val="800"/>
              </a:spcAft>
              <a:buNone/>
            </a:pPr>
            <a:r>
              <a:rPr lang="en" sz="700" dirty="0">
                <a:latin typeface="Courier New"/>
                <a:ea typeface="Courier New"/>
                <a:cs typeface="Courier New"/>
                <a:sym typeface="Courier New"/>
              </a:rPr>
              <a:t>CREATE OUTPUT GRAPH NAMEPLATE_HHI_GRAPH FROM NAMEPLATE_HHI WITH PROPERTIES { BAR_COLOR = “BLUE”, … };</a:t>
            </a:r>
            <a:endParaRPr sz="700" dirty="0">
              <a:latin typeface="Courier New"/>
              <a:ea typeface="Courier New"/>
              <a:cs typeface="Courier New"/>
              <a:sym typeface="Courier New"/>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384" name="Google Shape;384;p43"/>
          <p:cNvSpPr txBox="1">
            <a:spLocks noGrp="1"/>
          </p:cNvSpPr>
          <p:nvPr>
            <p:ph type="title"/>
          </p:nvPr>
        </p:nvSpPr>
        <p:spPr>
          <a:xfrm>
            <a:off x="457200" y="685800"/>
            <a:ext cx="8229600" cy="4572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Paper and Source Code Repository</a:t>
            </a:r>
            <a:endParaRPr/>
          </a:p>
        </p:txBody>
      </p:sp>
      <p:sp>
        <p:nvSpPr>
          <p:cNvPr id="385" name="Google Shape;385;p43"/>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30</a:t>
            </a:fld>
            <a:endParaRPr/>
          </a:p>
        </p:txBody>
      </p:sp>
      <p:sp>
        <p:nvSpPr>
          <p:cNvPr id="386" name="Google Shape;386;p43"/>
          <p:cNvSpPr txBox="1"/>
          <p:nvPr/>
        </p:nvSpPr>
        <p:spPr>
          <a:xfrm>
            <a:off x="1891175" y="5137450"/>
            <a:ext cx="5510100" cy="37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u="sng">
                <a:solidFill>
                  <a:schemeClr val="hlink"/>
                </a:solidFill>
                <a:latin typeface="Source Sans Pro"/>
                <a:ea typeface="Source Sans Pro"/>
                <a:cs typeface="Source Sans Pro"/>
                <a:sym typeface="Source Sans Pro"/>
                <a:hlinkClick r:id="rId3"/>
              </a:rPr>
              <a:t>https://github.com/echarlesgrasby/seasug-2026-paper</a:t>
            </a:r>
            <a:endParaRPr sz="1800">
              <a:solidFill>
                <a:schemeClr val="dk2"/>
              </a:solidFill>
              <a:latin typeface="Source Sans Pro"/>
              <a:ea typeface="Source Sans Pro"/>
              <a:cs typeface="Source Sans Pro"/>
              <a:sym typeface="Source Sans Pro"/>
            </a:endParaRPr>
          </a:p>
          <a:p>
            <a:pPr marL="0" lvl="0" indent="0" algn="l" rtl="0">
              <a:spcBef>
                <a:spcPts val="0"/>
              </a:spcBef>
              <a:spcAft>
                <a:spcPts val="0"/>
              </a:spcAft>
              <a:buNone/>
            </a:pPr>
            <a:endParaRPr sz="1800">
              <a:solidFill>
                <a:schemeClr val="dk2"/>
              </a:solidFill>
              <a:latin typeface="Source Sans Pro"/>
              <a:ea typeface="Source Sans Pro"/>
              <a:cs typeface="Source Sans Pro"/>
              <a:sym typeface="Source Sans Pro"/>
            </a:endParaRPr>
          </a:p>
        </p:txBody>
      </p:sp>
      <p:pic>
        <p:nvPicPr>
          <p:cNvPr id="387" name="Google Shape;387;p43"/>
          <p:cNvPicPr preferRelativeResize="0"/>
          <p:nvPr/>
        </p:nvPicPr>
        <p:blipFill>
          <a:blip r:embed="rId4">
            <a:alphaModFix/>
          </a:blip>
          <a:stretch>
            <a:fillRect/>
          </a:stretch>
        </p:blipFill>
        <p:spPr>
          <a:xfrm>
            <a:off x="2097813" y="1267725"/>
            <a:ext cx="4948380" cy="3694599"/>
          </a:xfrm>
          <a:prstGeom prst="rect">
            <a:avLst/>
          </a:prstGeom>
          <a:noFill/>
          <a:ln>
            <a:noFill/>
          </a:ln>
          <a:effectLst>
            <a:outerShdw blurRad="57150" dist="19050" dir="5400000" algn="bl" rotWithShape="0">
              <a:srgbClr val="000000">
                <a:alpha val="50000"/>
              </a:srgbClr>
            </a:outerShdw>
          </a:effectLst>
        </p:spPr>
      </p:pic>
      <p:sp>
        <p:nvSpPr>
          <p:cNvPr id="388" name="Google Shape;388;p43"/>
          <p:cNvSpPr/>
          <p:nvPr/>
        </p:nvSpPr>
        <p:spPr>
          <a:xfrm>
            <a:off x="2097825" y="2683625"/>
            <a:ext cx="952500" cy="210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
        <p:nvSpPr>
          <p:cNvPr id="389" name="Google Shape;389;p43"/>
          <p:cNvSpPr/>
          <p:nvPr/>
        </p:nvSpPr>
        <p:spPr>
          <a:xfrm>
            <a:off x="2028700" y="1313125"/>
            <a:ext cx="1664400" cy="210300"/>
          </a:xfrm>
          <a:prstGeom prst="ellipse">
            <a:avLst/>
          </a:prstGeom>
          <a:noFill/>
          <a:ln w="1905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Source Sans Pro"/>
              <a:ea typeface="Source Sans Pro"/>
              <a:cs typeface="Source Sans Pro"/>
              <a:sym typeface="Source Sans Pro"/>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93"/>
        <p:cNvGrpSpPr/>
        <p:nvPr/>
      </p:nvGrpSpPr>
      <p:grpSpPr>
        <a:xfrm>
          <a:off x="0" y="0"/>
          <a:ext cx="0" cy="0"/>
          <a:chOff x="0" y="0"/>
          <a:chExt cx="0" cy="0"/>
        </a:xfrm>
      </p:grpSpPr>
      <p:sp>
        <p:nvSpPr>
          <p:cNvPr id="394" name="Google Shape;394;p44"/>
          <p:cNvSpPr txBox="1">
            <a:spLocks noGrp="1"/>
          </p:cNvSpPr>
          <p:nvPr>
            <p:ph type="title"/>
          </p:nvPr>
        </p:nvSpPr>
        <p:spPr>
          <a:xfrm>
            <a:off x="378025" y="-225625"/>
            <a:ext cx="4045200" cy="2514600"/>
          </a:xfrm>
          <a:prstGeom prst="rect">
            <a:avLst/>
          </a:prstGeom>
        </p:spPr>
        <p:txBody>
          <a:bodyPr spcFirstLastPara="1" wrap="square" lIns="0" tIns="0" rIns="0" bIns="0" anchor="ctr" anchorCtr="0">
            <a:noAutofit/>
          </a:bodyPr>
          <a:lstStyle/>
          <a:p>
            <a:pPr marL="0" lvl="0" indent="0" algn="l" rtl="0">
              <a:spcBef>
                <a:spcPts val="0"/>
              </a:spcBef>
              <a:spcAft>
                <a:spcPts val="0"/>
              </a:spcAft>
              <a:buNone/>
            </a:pPr>
            <a:r>
              <a:rPr lang="en"/>
              <a:t>Follow Up Questions? </a:t>
            </a:r>
            <a:endParaRPr/>
          </a:p>
        </p:txBody>
      </p:sp>
      <p:sp>
        <p:nvSpPr>
          <p:cNvPr id="395" name="Google Shape;395;p44"/>
          <p:cNvSpPr txBox="1">
            <a:spLocks noGrp="1"/>
          </p:cNvSpPr>
          <p:nvPr>
            <p:ph type="subTitle" idx="1"/>
          </p:nvPr>
        </p:nvSpPr>
        <p:spPr>
          <a:xfrm>
            <a:off x="378025" y="2006950"/>
            <a:ext cx="6277500" cy="2834400"/>
          </a:xfrm>
          <a:prstGeom prst="rect">
            <a:avLst/>
          </a:prstGeom>
        </p:spPr>
        <p:txBody>
          <a:bodyPr spcFirstLastPara="1" wrap="square" lIns="0" tIns="0" rIns="0" bIns="0" anchor="t" anchorCtr="0">
            <a:noAutofit/>
          </a:bodyPr>
          <a:lstStyle/>
          <a:p>
            <a:pPr marL="0" lvl="0" indent="0" algn="l" rtl="0">
              <a:spcBef>
                <a:spcPts val="0"/>
              </a:spcBef>
              <a:spcAft>
                <a:spcPts val="0"/>
              </a:spcAft>
              <a:buNone/>
            </a:pPr>
            <a:r>
              <a:rPr lang="en"/>
              <a:t>Feel free to contact the authors:</a:t>
            </a:r>
            <a:endParaRPr/>
          </a:p>
          <a:p>
            <a:pPr marL="0" lvl="0" indent="0" algn="l" rtl="0">
              <a:spcBef>
                <a:spcPts val="0"/>
              </a:spcBef>
              <a:spcAft>
                <a:spcPts val="0"/>
              </a:spcAft>
              <a:buNone/>
            </a:pPr>
            <a:endParaRPr/>
          </a:p>
          <a:p>
            <a:pPr marL="0" lvl="0" indent="0" algn="l" rtl="0">
              <a:spcBef>
                <a:spcPts val="0"/>
              </a:spcBef>
              <a:spcAft>
                <a:spcPts val="0"/>
              </a:spcAft>
              <a:buNone/>
            </a:pPr>
            <a:r>
              <a:rPr lang="en" sz="1900"/>
              <a:t>Eric Grasby, MSIQ 	    (</a:t>
            </a:r>
            <a:r>
              <a:rPr lang="en" sz="1900" u="sng">
                <a:solidFill>
                  <a:schemeClr val="hlink"/>
                </a:solidFill>
                <a:hlinkClick r:id="rId3"/>
              </a:rPr>
              <a:t>ecgrasby@ualr.edu</a:t>
            </a:r>
            <a:r>
              <a:rPr lang="en" sz="1900"/>
              <a:t>)</a:t>
            </a:r>
            <a:br>
              <a:rPr lang="en" sz="1900"/>
            </a:br>
            <a:endParaRPr sz="1900"/>
          </a:p>
          <a:p>
            <a:pPr marL="0" lvl="0" indent="0" algn="l" rtl="0">
              <a:spcBef>
                <a:spcPts val="0"/>
              </a:spcBef>
              <a:spcAft>
                <a:spcPts val="0"/>
              </a:spcAft>
              <a:buNone/>
            </a:pPr>
            <a:r>
              <a:rPr lang="en" sz="1900"/>
              <a:t>Daniel Berleant, PhD    (</a:t>
            </a:r>
            <a:r>
              <a:rPr lang="en" sz="1900" u="sng">
                <a:solidFill>
                  <a:schemeClr val="hlink"/>
                </a:solidFill>
                <a:hlinkClick r:id="rId4"/>
              </a:rPr>
              <a:t>jdberleant@ualr.edu</a:t>
            </a:r>
            <a:r>
              <a:rPr lang="en" sz="1900"/>
              <a:t>)</a:t>
            </a:r>
            <a:endParaRPr sz="1900"/>
          </a:p>
          <a:p>
            <a:pPr marL="0" lvl="0" indent="0" algn="l" rtl="0">
              <a:spcBef>
                <a:spcPts val="0"/>
              </a:spcBef>
              <a:spcAft>
                <a:spcPts val="0"/>
              </a:spcAft>
              <a:buNone/>
            </a:pPr>
            <a:br>
              <a:rPr lang="en" sz="1900"/>
            </a:br>
            <a:r>
              <a:rPr lang="en" sz="1900"/>
              <a:t>Maria Gingras, PhD 	    (</a:t>
            </a:r>
            <a:r>
              <a:rPr lang="en" sz="1900" u="sng">
                <a:solidFill>
                  <a:schemeClr val="hlink"/>
                </a:solidFill>
                <a:hlinkClick r:id="rId5"/>
              </a:rPr>
              <a:t>maria@ochotonaanalytics.com</a:t>
            </a:r>
            <a:r>
              <a:rPr lang="en" sz="1900"/>
              <a:t>)</a:t>
            </a:r>
            <a:endParaRPr sz="1900"/>
          </a:p>
          <a:p>
            <a:pPr marL="0" lvl="0" indent="0" algn="l" rtl="0">
              <a:spcBef>
                <a:spcPts val="0"/>
              </a:spcBef>
              <a:spcAft>
                <a:spcPts val="0"/>
              </a:spcAft>
              <a:buNone/>
            </a:pPr>
            <a:endParaRPr/>
          </a:p>
          <a:p>
            <a:pPr marL="0" lvl="0" indent="0" algn="l" rtl="0">
              <a:spcBef>
                <a:spcPts val="0"/>
              </a:spcBef>
              <a:spcAft>
                <a:spcPts val="0"/>
              </a:spcAft>
              <a:buNone/>
            </a:pPr>
            <a:endParaRPr/>
          </a:p>
        </p:txBody>
      </p:sp>
      <p:pic>
        <p:nvPicPr>
          <p:cNvPr id="396" name="Google Shape;396;p44"/>
          <p:cNvPicPr preferRelativeResize="0"/>
          <p:nvPr/>
        </p:nvPicPr>
        <p:blipFill>
          <a:blip r:embed="rId6">
            <a:alphaModFix/>
          </a:blip>
          <a:stretch>
            <a:fillRect/>
          </a:stretch>
        </p:blipFill>
        <p:spPr>
          <a:xfrm>
            <a:off x="6445274" y="943074"/>
            <a:ext cx="2076175" cy="3431975"/>
          </a:xfrm>
          <a:prstGeom prst="rect">
            <a:avLst/>
          </a:prstGeom>
          <a:noFill/>
          <a:ln>
            <a:noFill/>
          </a:ln>
          <a:effectLst>
            <a:outerShdw blurRad="57150" dist="19050" dir="5400000" algn="bl" rotWithShape="0">
              <a:srgbClr val="000000">
                <a:alpha val="50000"/>
              </a:srgbClr>
            </a:outerShdw>
          </a:effectLst>
        </p:spPr>
      </p:pic>
      <p:sp>
        <p:nvSpPr>
          <p:cNvPr id="397" name="Google Shape;397;p44"/>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t>31</a:t>
            </a:fld>
            <a:endParaRPr/>
          </a:p>
        </p:txBody>
      </p:sp>
      <p:sp>
        <p:nvSpPr>
          <p:cNvPr id="398" name="Google Shape;398;p44"/>
          <p:cNvSpPr txBox="1"/>
          <p:nvPr/>
        </p:nvSpPr>
        <p:spPr>
          <a:xfrm>
            <a:off x="2023250" y="5277600"/>
            <a:ext cx="4913400" cy="3564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u="sng">
                <a:solidFill>
                  <a:schemeClr val="hlink"/>
                </a:solidFill>
                <a:latin typeface="Source Sans Pro"/>
                <a:ea typeface="Source Sans Pro"/>
                <a:cs typeface="Source Sans Pro"/>
                <a:sym typeface="Source Sans Pro"/>
                <a:hlinkClick r:id="rId7"/>
              </a:rPr>
              <a:t>https://ualr.edu/</a:t>
            </a:r>
            <a:r>
              <a:rPr lang="en" sz="1800">
                <a:solidFill>
                  <a:schemeClr val="dk2"/>
                </a:solidFill>
                <a:latin typeface="Source Sans Pro"/>
                <a:ea typeface="Source Sans Pro"/>
                <a:cs typeface="Source Sans Pro"/>
                <a:sym typeface="Source Sans Pro"/>
              </a:rPr>
              <a:t>   |   </a:t>
            </a:r>
            <a:r>
              <a:rPr lang="en" sz="1800" u="sng">
                <a:solidFill>
                  <a:schemeClr val="hlink"/>
                </a:solidFill>
                <a:latin typeface="Source Sans Pro"/>
                <a:ea typeface="Source Sans Pro"/>
                <a:cs typeface="Source Sans Pro"/>
                <a:sym typeface="Source Sans Pro"/>
                <a:hlinkClick r:id="rId8"/>
              </a:rPr>
              <a:t>https://spp.org/</a:t>
            </a:r>
            <a:r>
              <a:rPr lang="en" sz="1800">
                <a:solidFill>
                  <a:schemeClr val="dk2"/>
                </a:solidFill>
                <a:latin typeface="Source Sans Pro"/>
                <a:ea typeface="Source Sans Pro"/>
                <a:cs typeface="Source Sans Pro"/>
                <a:sym typeface="Source Sans Pro"/>
              </a:rPr>
              <a:t> </a:t>
            </a:r>
            <a:endParaRPr sz="1800">
              <a:solidFill>
                <a:schemeClr val="dk2"/>
              </a:solidFill>
              <a:latin typeface="Source Sans Pro"/>
              <a:ea typeface="Source Sans Pro"/>
              <a:cs typeface="Source Sans Pro"/>
              <a:sym typeface="Source Sans Pr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45"/>
          <p:cNvSpPr txBox="1">
            <a:spLocks noGrp="1"/>
          </p:cNvSpPr>
          <p:nvPr>
            <p:ph type="body" idx="2"/>
          </p:nvPr>
        </p:nvSpPr>
        <p:spPr>
          <a:xfrm>
            <a:off x="6524150" y="3747500"/>
            <a:ext cx="2337600" cy="385800"/>
          </a:xfrm>
          <a:prstGeom prst="rect">
            <a:avLst/>
          </a:prstGeom>
          <a:effectLst>
            <a:outerShdw blurRad="57150" dist="19050" dir="5400000" algn="bl" rotWithShape="0">
              <a:srgbClr val="FCFCFC">
                <a:alpha val="50000"/>
              </a:srgbClr>
            </a:outerShdw>
          </a:effectLst>
        </p:spPr>
        <p:txBody>
          <a:bodyPr spcFirstLastPara="1" wrap="square" lIns="0" tIns="0" rIns="0" bIns="0" anchor="ctr" anchorCtr="0">
            <a:noAutofit/>
          </a:bodyPr>
          <a:lstStyle/>
          <a:p>
            <a:pPr marL="0" lvl="0" indent="0" algn="ctr" rtl="0">
              <a:spcBef>
                <a:spcPts val="0"/>
              </a:spcBef>
              <a:spcAft>
                <a:spcPts val="1200"/>
              </a:spcAft>
              <a:buNone/>
            </a:pPr>
            <a:r>
              <a:rPr lang="en" sz="2300"/>
              <a:t>Dr. Daniel Berleant</a:t>
            </a:r>
            <a:endParaRPr sz="2300"/>
          </a:p>
        </p:txBody>
      </p:sp>
      <p:sp>
        <p:nvSpPr>
          <p:cNvPr id="404" name="Google Shape;404;p45"/>
          <p:cNvSpPr txBox="1">
            <a:spLocks noGrp="1"/>
          </p:cNvSpPr>
          <p:nvPr>
            <p:ph type="body" idx="2"/>
          </p:nvPr>
        </p:nvSpPr>
        <p:spPr>
          <a:xfrm>
            <a:off x="1687375" y="3747500"/>
            <a:ext cx="2143500" cy="385800"/>
          </a:xfrm>
          <a:prstGeom prst="rect">
            <a:avLst/>
          </a:prstGeom>
          <a:effectLst>
            <a:outerShdw blurRad="57150" dist="19050" dir="5400000" algn="bl" rotWithShape="0">
              <a:srgbClr val="6E2639">
                <a:alpha val="71000"/>
              </a:srgbClr>
            </a:outerShdw>
          </a:effectLst>
        </p:spPr>
        <p:txBody>
          <a:bodyPr spcFirstLastPara="1" wrap="square" lIns="0" tIns="0" rIns="0" bIns="0" anchor="ctr" anchorCtr="0">
            <a:noAutofit/>
          </a:bodyPr>
          <a:lstStyle/>
          <a:p>
            <a:pPr marL="0" lvl="0" indent="0" algn="ctr" rtl="0">
              <a:spcBef>
                <a:spcPts val="0"/>
              </a:spcBef>
              <a:spcAft>
                <a:spcPts val="1200"/>
              </a:spcAft>
              <a:buNone/>
            </a:pPr>
            <a:r>
              <a:rPr lang="en" sz="2300">
                <a:solidFill>
                  <a:schemeClr val="dk1"/>
                </a:solidFill>
              </a:rPr>
              <a:t>Dr. Maria Gingras</a:t>
            </a:r>
            <a:endParaRPr sz="2300">
              <a:solidFill>
                <a:schemeClr val="dk1"/>
              </a:solidFill>
            </a:endParaRPr>
          </a:p>
        </p:txBody>
      </p:sp>
      <p:pic>
        <p:nvPicPr>
          <p:cNvPr id="405" name="Google Shape;405;p45"/>
          <p:cNvPicPr preferRelativeResize="0"/>
          <p:nvPr/>
        </p:nvPicPr>
        <p:blipFill>
          <a:blip r:embed="rId3">
            <a:alphaModFix/>
          </a:blip>
          <a:stretch>
            <a:fillRect/>
          </a:stretch>
        </p:blipFill>
        <p:spPr>
          <a:xfrm>
            <a:off x="47329" y="1531626"/>
            <a:ext cx="2096271" cy="2096300"/>
          </a:xfrm>
          <a:prstGeom prst="rect">
            <a:avLst/>
          </a:prstGeom>
          <a:noFill/>
          <a:ln>
            <a:noFill/>
          </a:ln>
        </p:spPr>
      </p:pic>
      <p:pic>
        <p:nvPicPr>
          <p:cNvPr id="406" name="Google Shape;406;p45"/>
          <p:cNvPicPr preferRelativeResize="0"/>
          <p:nvPr/>
        </p:nvPicPr>
        <p:blipFill>
          <a:blip r:embed="rId4">
            <a:alphaModFix/>
          </a:blip>
          <a:stretch>
            <a:fillRect/>
          </a:stretch>
        </p:blipFill>
        <p:spPr>
          <a:xfrm>
            <a:off x="5343900" y="1531612"/>
            <a:ext cx="2096275" cy="2096275"/>
          </a:xfrm>
          <a:prstGeom prst="rect">
            <a:avLst/>
          </a:prstGeom>
          <a:noFill/>
          <a:ln>
            <a:noFill/>
          </a:ln>
        </p:spPr>
      </p:pic>
      <p:sp>
        <p:nvSpPr>
          <p:cNvPr id="407" name="Google Shape;407;p45"/>
          <p:cNvSpPr txBox="1"/>
          <p:nvPr/>
        </p:nvSpPr>
        <p:spPr>
          <a:xfrm>
            <a:off x="29700" y="49475"/>
            <a:ext cx="4739700" cy="661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100" b="1">
                <a:solidFill>
                  <a:srgbClr val="6E2639"/>
                </a:solidFill>
                <a:latin typeface="Antonio"/>
                <a:ea typeface="Antonio"/>
                <a:cs typeface="Antonio"/>
                <a:sym typeface="Antonio"/>
              </a:rPr>
              <a:t>Thank you: Co-Authors! </a:t>
            </a:r>
            <a:endParaRPr sz="3100" b="1">
              <a:solidFill>
                <a:srgbClr val="6E2639"/>
              </a:solidFill>
              <a:latin typeface="Antonio"/>
              <a:ea typeface="Antonio"/>
              <a:cs typeface="Antonio"/>
              <a:sym typeface="Antonio"/>
            </a:endParaRPr>
          </a:p>
        </p:txBody>
      </p:sp>
      <p:pic>
        <p:nvPicPr>
          <p:cNvPr id="408" name="Google Shape;408;p45"/>
          <p:cNvPicPr preferRelativeResize="0"/>
          <p:nvPr/>
        </p:nvPicPr>
        <p:blipFill>
          <a:blip r:embed="rId5">
            <a:alphaModFix/>
          </a:blip>
          <a:stretch>
            <a:fillRect/>
          </a:stretch>
        </p:blipFill>
        <p:spPr>
          <a:xfrm>
            <a:off x="7554025" y="1531611"/>
            <a:ext cx="1500539" cy="2096300"/>
          </a:xfrm>
          <a:prstGeom prst="rect">
            <a:avLst/>
          </a:prstGeom>
          <a:noFill/>
          <a:ln>
            <a:noFill/>
          </a:ln>
          <a:effectLst>
            <a:outerShdw blurRad="100013" dist="47625" dir="5400000" algn="bl" rotWithShape="0">
              <a:srgbClr val="000000">
                <a:alpha val="57000"/>
              </a:srgbClr>
            </a:outerShdw>
          </a:effectLst>
        </p:spPr>
      </p:pic>
      <p:pic>
        <p:nvPicPr>
          <p:cNvPr id="409" name="Google Shape;409;p45"/>
          <p:cNvPicPr preferRelativeResize="0"/>
          <p:nvPr/>
        </p:nvPicPr>
        <p:blipFill>
          <a:blip r:embed="rId6">
            <a:alphaModFix/>
          </a:blip>
          <a:stretch>
            <a:fillRect/>
          </a:stretch>
        </p:blipFill>
        <p:spPr>
          <a:xfrm>
            <a:off x="2246500" y="1531625"/>
            <a:ext cx="1958825" cy="1958825"/>
          </a:xfrm>
          <a:prstGeom prst="rect">
            <a:avLst/>
          </a:prstGeom>
          <a:noFill/>
          <a:ln>
            <a:noFill/>
          </a:ln>
          <a:effectLst>
            <a:outerShdw blurRad="100013" dist="47625" dir="5400000" algn="bl" rotWithShape="0">
              <a:srgbClr val="000000">
                <a:alpha val="57000"/>
              </a:srgbClr>
            </a:outerShdw>
          </a:effectLst>
        </p:spPr>
      </p:pic>
      <p:sp>
        <p:nvSpPr>
          <p:cNvPr id="410" name="Google Shape;410;p45"/>
          <p:cNvSpPr txBox="1">
            <a:spLocks noGrp="1"/>
          </p:cNvSpPr>
          <p:nvPr>
            <p:ph type="sldNum" idx="12"/>
          </p:nvPr>
        </p:nvSpPr>
        <p:spPr>
          <a:xfrm>
            <a:off x="8229600" y="5257795"/>
            <a:ext cx="914400" cy="457200"/>
          </a:xfrm>
          <a:prstGeom prst="rect">
            <a:avLst/>
          </a:prstGeom>
        </p:spPr>
        <p:txBody>
          <a:bodyPr spcFirstLastPara="1" wrap="square" lIns="0" tIns="0" rIns="228600" bIns="228600" anchor="b" anchorCtr="0">
            <a:noAutofit/>
          </a:bodyPr>
          <a:lstStyle/>
          <a:p>
            <a:pPr marL="0" lvl="0" indent="0" algn="r" rtl="0">
              <a:spcBef>
                <a:spcPts val="0"/>
              </a:spcBef>
              <a:spcAft>
                <a:spcPts val="0"/>
              </a:spcAft>
              <a:buNone/>
            </a:pPr>
            <a:fld id="{00000000-1234-1234-1234-123412341234}" type="slidenum">
              <a:rPr lang="en">
                <a:solidFill>
                  <a:schemeClr val="lt1"/>
                </a:solidFill>
              </a:rPr>
              <a:t>32</a:t>
            </a:fld>
            <a:endParaRPr>
              <a:solidFill>
                <a:schemeClr val="lt1"/>
              </a:solidFill>
            </a:endParaRPr>
          </a:p>
        </p:txBody>
      </p:sp>
      <p:pic>
        <p:nvPicPr>
          <p:cNvPr id="411" name="Google Shape;411;p45"/>
          <p:cNvPicPr preferRelativeResize="0"/>
          <p:nvPr/>
        </p:nvPicPr>
        <p:blipFill>
          <a:blip r:embed="rId7">
            <a:alphaModFix/>
          </a:blip>
          <a:stretch>
            <a:fillRect/>
          </a:stretch>
        </p:blipFill>
        <p:spPr>
          <a:xfrm>
            <a:off x="5373400" y="3849614"/>
            <a:ext cx="1057926" cy="181575"/>
          </a:xfrm>
          <a:prstGeom prst="rect">
            <a:avLst/>
          </a:prstGeom>
          <a:noFill/>
          <a:ln>
            <a:noFill/>
          </a:ln>
          <a:effectLst>
            <a:outerShdw blurRad="57150" dist="19050" dir="5400000" algn="bl" rotWithShape="0">
              <a:srgbClr val="000000">
                <a:alpha val="50000"/>
              </a:srgbClr>
            </a:outerShdw>
          </a:effectLst>
        </p:spPr>
      </p:pic>
      <p:pic>
        <p:nvPicPr>
          <p:cNvPr id="412" name="Google Shape;412;p45"/>
          <p:cNvPicPr preferRelativeResize="0"/>
          <p:nvPr/>
        </p:nvPicPr>
        <p:blipFill>
          <a:blip r:embed="rId8">
            <a:alphaModFix/>
          </a:blip>
          <a:stretch>
            <a:fillRect/>
          </a:stretch>
        </p:blipFill>
        <p:spPr>
          <a:xfrm>
            <a:off x="1067598" y="3747497"/>
            <a:ext cx="396203" cy="3858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theme/theme1.xml><?xml version="1.0" encoding="utf-8"?>
<a:theme xmlns:a="http://schemas.openxmlformats.org/drawingml/2006/main" name="Expect More – 16:10">
  <a:themeElements>
    <a:clrScheme name="Simple Light">
      <a:dk1>
        <a:srgbClr val="6E2639"/>
      </a:dk1>
      <a:lt1>
        <a:srgbClr val="FCFCFC"/>
      </a:lt1>
      <a:dk2>
        <a:srgbClr val="333333"/>
      </a:dk2>
      <a:lt2>
        <a:srgbClr val="EEEEEE"/>
      </a:lt2>
      <a:accent1>
        <a:srgbClr val="4C1A27"/>
      </a:accent1>
      <a:accent2>
        <a:srgbClr val="D5410B"/>
      </a:accent2>
      <a:accent3>
        <a:srgbClr val="FFBF00"/>
      </a:accent3>
      <a:accent4>
        <a:srgbClr val="99CC33"/>
      </a:accent4>
      <a:accent5>
        <a:srgbClr val="91D9C6"/>
      </a:accent5>
      <a:accent6>
        <a:srgbClr val="52A3CB"/>
      </a:accent6>
      <a:hlink>
        <a:srgbClr val="6E263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e9692091-66b8-45b5-9087-387cbcef98ca}" enabled="1" method="Privileged" siteId="{3230926a-71b7-4370-a137-197badc066a2}" contentBits="0" removed="0"/>
</clbl:labelList>
</file>

<file path=docProps/app.xml><?xml version="1.0" encoding="utf-8"?>
<Properties xmlns="http://schemas.openxmlformats.org/officeDocument/2006/extended-properties" xmlns:vt="http://schemas.openxmlformats.org/officeDocument/2006/docPropsVTypes">
  <TotalTime>10</TotalTime>
  <Words>2667</Words>
  <Application>Microsoft Office PowerPoint</Application>
  <PresentationFormat>On-screen Show (16:10)</PresentationFormat>
  <Paragraphs>262</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Antonio Medium</vt:lpstr>
      <vt:lpstr>Source Sans Pro</vt:lpstr>
      <vt:lpstr>Courier New</vt:lpstr>
      <vt:lpstr>Antonio</vt:lpstr>
      <vt:lpstr>Expect More – 16:10</vt:lpstr>
      <vt:lpstr>A Domain-Specific Language for Market Monitoring: From Domain Logic to SAS Code</vt:lpstr>
      <vt:lpstr>PowerPoint Presentation</vt:lpstr>
      <vt:lpstr>Problem Landscape</vt:lpstr>
      <vt:lpstr>Unpacking the Title</vt:lpstr>
      <vt:lpstr>Domain-Specific Languages</vt:lpstr>
      <vt:lpstr>Market Monitoring</vt:lpstr>
      <vt:lpstr>So What is a Wholesale Electricity Market?</vt:lpstr>
      <vt:lpstr>SPP Market Territory</vt:lpstr>
      <vt:lpstr>Wholesale Electric Markets in the United States</vt:lpstr>
      <vt:lpstr>Proposed Solution</vt:lpstr>
      <vt:lpstr>How is SAS involved?</vt:lpstr>
      <vt:lpstr>MLang: Bring the logic closer to the analysts!</vt:lpstr>
      <vt:lpstr>Speaking Plainly</vt:lpstr>
      <vt:lpstr>Study Design</vt:lpstr>
      <vt:lpstr>Where to Begin?</vt:lpstr>
      <vt:lpstr>Delphi Study</vt:lpstr>
      <vt:lpstr>Thematic Coding</vt:lpstr>
      <vt:lpstr>Basic Requirements and Use Cases</vt:lpstr>
      <vt:lpstr>Proof of Concept  Implementation</vt:lpstr>
      <vt:lpstr>Technology Stack</vt:lpstr>
      <vt:lpstr>Grammar and MLang Source</vt:lpstr>
      <vt:lpstr>Test Data</vt:lpstr>
      <vt:lpstr>Transpiler</vt:lpstr>
      <vt:lpstr>Sample Program Execution</vt:lpstr>
      <vt:lpstr>Features</vt:lpstr>
      <vt:lpstr>Conclusion and Future Work</vt:lpstr>
      <vt:lpstr>Limitations</vt:lpstr>
      <vt:lpstr>Future Work</vt:lpstr>
      <vt:lpstr>Market Metrics (Development in Progress)</vt:lpstr>
      <vt:lpstr>Paper and Source Code Repository</vt:lpstr>
      <vt:lpstr>Follow Up Questions?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Eric Grasby</cp:lastModifiedBy>
  <cp:revision>6</cp:revision>
  <dcterms:modified xsi:type="dcterms:W3CDTF">2026-10-02T18:08:45Z</dcterms:modified>
</cp:coreProperties>
</file>